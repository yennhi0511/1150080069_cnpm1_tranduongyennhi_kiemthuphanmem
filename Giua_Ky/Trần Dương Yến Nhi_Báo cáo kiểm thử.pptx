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62828"/>
    <a:srgbClr val="2E7D32"/>
    <a:srgbClr val="FFEBEE"/>
    <a:srgbClr val="2EA0AD"/>
    <a:srgbClr val="E8F5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78908"/>
            <a:ext cx="9144000" cy="164592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22208" y="164592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4343400"/>
            <a:ext cx="457200" cy="320040"/>
          </a:xfrm>
          <a:prstGeom prst="rect">
            <a:avLst/>
          </a:prstGeom>
          <a:solidFill>
            <a:srgbClr val="AAAAAA">
              <a:alpha val="30000"/>
            </a:srgbClr>
          </a:solidFill>
          <a:ln w="12700">
            <a:solidFill>
              <a:srgbClr val="AAAAAA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4480560"/>
            <a:ext cx="274320" cy="182880"/>
          </a:xfrm>
          <a:prstGeom prst="rect">
            <a:avLst/>
          </a:prstGeom>
          <a:solidFill>
            <a:srgbClr val="AAAAAA">
              <a:alpha val="20000"/>
            </a:srgbClr>
          </a:solidFill>
          <a:ln w="12700">
            <a:solidFill>
              <a:srgbClr val="AAAAAA">
                <a:alpha val="2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1188720"/>
            <a:ext cx="6400800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kern="0" spc="300" dirty="0">
                <a:solidFill>
                  <a:srgbClr val="88888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KIỂM THỬ PHẦN MỀM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371600" y="1600200"/>
            <a:ext cx="6400800" cy="1737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1E1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Ứng Dụng JMeter cho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1E1E1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WebApp Automation Test</a:t>
            </a:r>
            <a:endParaRPr lang="en-US" sz="4000" dirty="0"/>
          </a:p>
        </p:txBody>
      </p:sp>
      <p:sp>
        <p:nvSpPr>
          <p:cNvPr id="11" name="Shape 9"/>
          <p:cNvSpPr/>
          <p:nvPr/>
        </p:nvSpPr>
        <p:spPr>
          <a:xfrm>
            <a:off x="3474720" y="3401568"/>
            <a:ext cx="2194560" cy="36576"/>
          </a:xfrm>
          <a:prstGeom prst="rect">
            <a:avLst/>
          </a:prstGeom>
          <a:solidFill>
            <a:srgbClr val="C09050"/>
          </a:solidFill>
          <a:ln w="12700">
            <a:solidFill>
              <a:srgbClr val="C090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71600" y="3493008"/>
            <a:ext cx="64008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888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GVHD: Th.S Phạm Trọng Huynh</a:t>
            </a:r>
            <a:endParaRPr lang="en-US" sz="1200" dirty="0">
              <a:solidFill>
                <a:srgbClr val="888888"/>
              </a:solidFill>
              <a:latin typeface="Times New Roman" panose="02020603050405020304" pitchFamily="34" charset="0"/>
              <a:ea typeface="Times New Roman" panose="02020603050405020304" pitchFamily="34" charset="-122"/>
              <a:cs typeface="Times New Roman" panose="02020603050405020304" pitchFamily="34" charset="-120"/>
            </a:endParaRPr>
          </a:p>
          <a:p>
            <a:pPr marL="0" algn="ctr">
              <a:buClrTx/>
              <a:buSzTx/>
              <a:buFontTx/>
              <a:buNone/>
            </a:pPr>
            <a:r>
              <a:rPr lang="en-US" sz="1200" dirty="0">
                <a:solidFill>
                  <a:srgbClr val="88888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SVTH: Trần Dương Yến Nhi 11CNPM1</a:t>
            </a:r>
            <a:endParaRPr lang="en-US" sz="1200" dirty="0">
              <a:solidFill>
                <a:srgbClr val="888888"/>
              </a:solidFill>
              <a:latin typeface="Times New Roman" panose="02020603050405020304" pitchFamily="34" charset="0"/>
              <a:ea typeface="Times New Roman" panose="02020603050405020304" pitchFamily="34" charset="-122"/>
              <a:cs typeface="Times New Roman" panose="02020603050405020304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371600" y="4588383"/>
            <a:ext cx="64008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D4A96A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Tháng 03/2025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78908"/>
            <a:ext cx="9144000" cy="164592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22208" y="164592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256032"/>
            <a:ext cx="822960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1E1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Tổng Quan Đề Tài &amp; Phạm Vi Kiểm Thử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84048" y="841248"/>
            <a:ext cx="8375904" cy="27432"/>
          </a:xfrm>
          <a:prstGeom prst="rect">
            <a:avLst/>
          </a:prstGeom>
          <a:solidFill>
            <a:srgbClr val="C09050"/>
          </a:solidFill>
          <a:ln w="12700">
            <a:solidFill>
              <a:srgbClr val="C090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0" y="4828032"/>
            <a:ext cx="45720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02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0040" y="1188720"/>
            <a:ext cx="1280160" cy="566928"/>
          </a:xfrm>
          <a:prstGeom prst="rect">
            <a:avLst/>
          </a:prstGeom>
          <a:solidFill>
            <a:srgbClr val="D4A96A"/>
          </a:solidFill>
          <a:ln w="12700">
            <a:solidFill>
              <a:srgbClr val="D4A9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1188720"/>
            <a:ext cx="128016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1E1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URL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664208" y="1188720"/>
            <a:ext cx="39319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773936" y="1188720"/>
            <a:ext cx="374904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https://www.saucedemo.com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1938528"/>
            <a:ext cx="1280160" cy="566928"/>
          </a:xfrm>
          <a:prstGeom prst="rect">
            <a:avLst/>
          </a:prstGeom>
          <a:solidFill>
            <a:srgbClr val="D4A96A"/>
          </a:solidFill>
          <a:ln w="12700">
            <a:solidFill>
              <a:srgbClr val="D4A9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" y="1938528"/>
            <a:ext cx="128016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1E1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Loại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664208" y="1938528"/>
            <a:ext cx="39319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773936" y="1938528"/>
            <a:ext cx="374904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Web Application (SPA · React)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2688336"/>
            <a:ext cx="1280160" cy="566928"/>
          </a:xfrm>
          <a:prstGeom prst="rect">
            <a:avLst/>
          </a:prstGeom>
          <a:solidFill>
            <a:srgbClr val="D4A96A"/>
          </a:solidFill>
          <a:ln w="12700">
            <a:solidFill>
              <a:srgbClr val="D4A9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" y="2688336"/>
            <a:ext cx="128016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1E1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Đối tượng test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664208" y="2688336"/>
            <a:ext cx="39319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773936" y="2688336"/>
            <a:ext cx="374904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Login · Products · Cart · Checkout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0040" y="3438144"/>
            <a:ext cx="1280160" cy="566928"/>
          </a:xfrm>
          <a:prstGeom prst="rect">
            <a:avLst/>
          </a:prstGeom>
          <a:solidFill>
            <a:srgbClr val="D4A96A"/>
          </a:solidFill>
          <a:ln w="12700">
            <a:solidFill>
              <a:srgbClr val="D4A9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3438144"/>
            <a:ext cx="128016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1E1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Công cụ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664208" y="3438144"/>
            <a:ext cx="39319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773936" y="3438144"/>
            <a:ext cx="374904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JMeter 5.6.3 · Postman v10 · Manual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852160" y="1170432"/>
            <a:ext cx="30175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1E1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Các module kiểm thử: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852160" y="1463040"/>
            <a:ext cx="3017520" cy="530352"/>
          </a:xfrm>
          <a:prstGeom prst="rect">
            <a:avLst/>
          </a:prstGeom>
          <a:solidFill>
            <a:srgbClr val="E8F5E9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52160" y="1463040"/>
            <a:ext cx="64008" cy="53035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89320" y="1508760"/>
            <a:ext cx="19202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33333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Đăng nhập (Login)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46720" y="1572768"/>
            <a:ext cx="749808" cy="25603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19720" y="1572895"/>
            <a:ext cx="876935" cy="25590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12 TestCase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852160" y="2084832"/>
            <a:ext cx="3017520" cy="530352"/>
          </a:xfrm>
          <a:prstGeom prst="rect">
            <a:avLst/>
          </a:prstGeom>
          <a:solidFill>
            <a:srgbClr val="FFF8E1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852160" y="2084832"/>
            <a:ext cx="64008" cy="530352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89320" y="2130552"/>
            <a:ext cx="19202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33333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Sản phẩm (Products)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046720" y="2194560"/>
            <a:ext cx="749808" cy="256032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36865" y="2194560"/>
            <a:ext cx="859790" cy="25590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11 </a:t>
            </a:r>
            <a:r>
              <a:rPr lang="en-US" sz="950" b="1" dirty="0">
                <a:solidFill>
                  <a:srgbClr val="FFFFFF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  <a:sym typeface="+mn-ea"/>
              </a:rPr>
              <a:t>TestCase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852160" y="2706624"/>
            <a:ext cx="3017520" cy="530352"/>
          </a:xfrm>
          <a:prstGeom prst="rect">
            <a:avLst/>
          </a:prstGeom>
          <a:solidFill>
            <a:srgbClr val="E3F2FD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852160" y="2706624"/>
            <a:ext cx="64008" cy="53035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89320" y="2752344"/>
            <a:ext cx="19202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33333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Giỏ hàng (Cart)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046720" y="2816352"/>
            <a:ext cx="749808" cy="25603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925435" y="2816225"/>
            <a:ext cx="871220" cy="25590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10 </a:t>
            </a:r>
            <a:r>
              <a:rPr lang="en-US" sz="950" b="1" dirty="0">
                <a:solidFill>
                  <a:srgbClr val="FFFFFF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  <a:sym typeface="+mn-ea"/>
              </a:rPr>
              <a:t>TestCase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852160" y="3328416"/>
            <a:ext cx="3017520" cy="530352"/>
          </a:xfrm>
          <a:prstGeom prst="rect">
            <a:avLst/>
          </a:prstGeom>
          <a:solidFill>
            <a:srgbClr val="FCE4EC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852160" y="3328416"/>
            <a:ext cx="64008" cy="53035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89320" y="3374136"/>
            <a:ext cx="19202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33333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Thanh toán (Checkout)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046720" y="3438144"/>
            <a:ext cx="749808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936230" y="3437890"/>
            <a:ext cx="860425" cy="25590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12 </a:t>
            </a:r>
            <a:r>
              <a:rPr lang="en-US" sz="950" b="1" dirty="0">
                <a:solidFill>
                  <a:srgbClr val="FFFFFF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  <a:sym typeface="+mn-ea"/>
              </a:rPr>
              <a:t>TestCase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852160" y="3950208"/>
            <a:ext cx="3017520" cy="530352"/>
          </a:xfrm>
          <a:prstGeom prst="rect">
            <a:avLst/>
          </a:prstGeom>
          <a:solidFill>
            <a:srgbClr val="F3E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852160" y="3950208"/>
            <a:ext cx="64008" cy="530352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989320" y="3995928"/>
            <a:ext cx="192024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33333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Hiệu năng — JMeter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8046720" y="4059936"/>
            <a:ext cx="749808" cy="256032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936865" y="4060190"/>
            <a:ext cx="859790" cy="25590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10 </a:t>
            </a:r>
            <a:r>
              <a:rPr lang="en-US" sz="950" b="1" dirty="0">
                <a:solidFill>
                  <a:srgbClr val="FFFFFF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  <a:sym typeface="+mn-ea"/>
              </a:rPr>
              <a:t>TestCase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852160" y="4608576"/>
            <a:ext cx="3017520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C09050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Tổng: 55 Test Case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78908"/>
            <a:ext cx="9144000" cy="164592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22208" y="164592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256032"/>
            <a:ext cx="822960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1E1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Lựa Chọn Kỹ Thuật Kiểm Thử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84048" y="841248"/>
            <a:ext cx="8375904" cy="27432"/>
          </a:xfrm>
          <a:prstGeom prst="rect">
            <a:avLst/>
          </a:prstGeom>
          <a:solidFill>
            <a:srgbClr val="C09050"/>
          </a:solidFill>
          <a:ln w="12700">
            <a:solidFill>
              <a:srgbClr val="C090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0" y="4828032"/>
            <a:ext cx="45720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03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1188720"/>
            <a:ext cx="4224528" cy="1024128"/>
          </a:xfrm>
          <a:prstGeom prst="rect">
            <a:avLst/>
          </a:prstGeom>
          <a:solidFill>
            <a:srgbClr val="F5F0E8"/>
          </a:solidFill>
          <a:ln w="8890">
            <a:solidFill>
              <a:srgbClr val="D4A96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4320" y="1188720"/>
            <a:ext cx="73152" cy="1024128"/>
          </a:xfrm>
          <a:prstGeom prst="rect">
            <a:avLst/>
          </a:prstGeom>
          <a:solidFill>
            <a:srgbClr val="C09050"/>
          </a:solidFill>
          <a:ln w="12700">
            <a:solidFill>
              <a:srgbClr val="C090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0624" y="1481328"/>
            <a:ext cx="530352" cy="438912"/>
          </a:xfrm>
          <a:prstGeom prst="rect">
            <a:avLst/>
          </a:prstGeom>
          <a:solidFill>
            <a:srgbClr val="D4A96A"/>
          </a:solidFill>
          <a:ln w="12700">
            <a:solidFill>
              <a:srgbClr val="D4A9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" y="1481328"/>
            <a:ext cx="530352" cy="4389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1E1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01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60704" y="1280160"/>
            <a:ext cx="3328416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1E1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Kiểm Thử Hộp Đen 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60704" y="1645920"/>
            <a:ext cx="960120" cy="201168"/>
          </a:xfrm>
          <a:prstGeom prst="rect">
            <a:avLst/>
          </a:prstGeom>
          <a:solidFill>
            <a:srgbClr val="C09050"/>
          </a:solidFill>
          <a:ln w="12700">
            <a:solidFill>
              <a:srgbClr val="C090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60704" y="1645920"/>
            <a:ext cx="9601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✔  ÁP DỤNG</a:t>
            </a:r>
            <a:endParaRPr lang="en-US" sz="1000" b="1" dirty="0">
              <a:solidFill>
                <a:srgbClr val="FFFFFF"/>
              </a:solidFill>
              <a:latin typeface="Times New Roman" panose="02020603050405020304" pitchFamily="34" charset="0"/>
              <a:ea typeface="Times New Roman" panose="02020603050405020304" pitchFamily="34" charset="-122"/>
              <a:cs typeface="Times New Roman" panose="02020603050405020304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103120" y="1481455"/>
            <a:ext cx="228600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Không có source code, kiểm thử qua giao diện &amp; hành vi ứng dụng</a:t>
            </a:r>
            <a:endParaRPr lang="en-US" sz="1200" dirty="0">
              <a:solidFill>
                <a:srgbClr val="888888"/>
              </a:solidFill>
              <a:latin typeface="Times New Roman" panose="02020603050405020304" pitchFamily="34" charset="0"/>
              <a:ea typeface="Times New Roman" panose="02020603050405020304" pitchFamily="34" charset="-122"/>
              <a:cs typeface="Times New Roman" panose="02020603050405020304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709160" y="1188720"/>
            <a:ext cx="4224528" cy="1024128"/>
          </a:xfrm>
          <a:prstGeom prst="rect">
            <a:avLst/>
          </a:prstGeom>
          <a:solidFill>
            <a:srgbClr val="F5F0E8"/>
          </a:solidFill>
          <a:ln w="8890">
            <a:solidFill>
              <a:srgbClr val="D4A96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09160" y="1188720"/>
            <a:ext cx="73152" cy="1024128"/>
          </a:xfrm>
          <a:prstGeom prst="rect">
            <a:avLst/>
          </a:prstGeom>
          <a:solidFill>
            <a:srgbClr val="C09050"/>
          </a:solidFill>
          <a:ln w="12700">
            <a:solidFill>
              <a:srgbClr val="C0905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55464" y="1481328"/>
            <a:ext cx="530352" cy="438912"/>
          </a:xfrm>
          <a:prstGeom prst="rect">
            <a:avLst/>
          </a:prstGeom>
          <a:solidFill>
            <a:srgbClr val="D4A96A"/>
          </a:solidFill>
          <a:ln w="12700">
            <a:solidFill>
              <a:srgbClr val="D4A9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55464" y="1481328"/>
            <a:ext cx="530352" cy="4389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1E1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02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495544" y="1280160"/>
            <a:ext cx="3328416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1E1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Phân Vùng Tương Đương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95544" y="1645920"/>
            <a:ext cx="960120" cy="201168"/>
          </a:xfrm>
          <a:prstGeom prst="rect">
            <a:avLst/>
          </a:prstGeom>
          <a:solidFill>
            <a:srgbClr val="C09050"/>
          </a:solidFill>
          <a:ln w="12700">
            <a:solidFill>
              <a:srgbClr val="C090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95544" y="1645920"/>
            <a:ext cx="9601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✔  ÁP DỤNG</a:t>
            </a:r>
            <a:endParaRPr lang="en-US" sz="1000" b="1" dirty="0">
              <a:solidFill>
                <a:srgbClr val="FFFFFF"/>
              </a:solidFill>
              <a:latin typeface="Times New Roman" panose="02020603050405020304" pitchFamily="34" charset="0"/>
              <a:ea typeface="Times New Roman" panose="02020603050405020304" pitchFamily="34" charset="-122"/>
              <a:cs typeface="Times New Roman" panose="02020603050405020304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537960" y="1645920"/>
            <a:ext cx="228600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Username / Password  có thể chia vùng hợp lệ – không hợp lệ – rỗng rõ ràng</a:t>
            </a:r>
            <a:endParaRPr lang="en-US" sz="1200" dirty="0">
              <a:solidFill>
                <a:srgbClr val="888888"/>
              </a:solidFill>
              <a:latin typeface="Times New Roman" panose="02020603050405020304" pitchFamily="34" charset="0"/>
              <a:ea typeface="Times New Roman" panose="02020603050405020304" pitchFamily="34" charset="-122"/>
              <a:cs typeface="Times New Roman" panose="02020603050405020304" pitchFamily="34" charset="-12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274320" y="2331720"/>
            <a:ext cx="4224528" cy="1024128"/>
          </a:xfrm>
          <a:prstGeom prst="rect">
            <a:avLst/>
          </a:prstGeom>
          <a:solidFill>
            <a:srgbClr val="F5F0E8"/>
          </a:solidFill>
          <a:ln w="8890">
            <a:solidFill>
              <a:srgbClr val="D4A96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74320" y="2331720"/>
            <a:ext cx="73152" cy="1024128"/>
          </a:xfrm>
          <a:prstGeom prst="rect">
            <a:avLst/>
          </a:prstGeom>
          <a:solidFill>
            <a:srgbClr val="C09050"/>
          </a:solidFill>
          <a:ln w="12700">
            <a:solidFill>
              <a:srgbClr val="C0905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0624" y="2624328"/>
            <a:ext cx="530352" cy="438912"/>
          </a:xfrm>
          <a:prstGeom prst="rect">
            <a:avLst/>
          </a:prstGeom>
          <a:solidFill>
            <a:srgbClr val="D4A96A"/>
          </a:solidFill>
          <a:ln w="12700">
            <a:solidFill>
              <a:srgbClr val="D4A96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20624" y="2624328"/>
            <a:ext cx="530352" cy="4389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1E1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03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060704" y="2423160"/>
            <a:ext cx="3328416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1E1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Giá Trị Biên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1060704" y="2788920"/>
            <a:ext cx="960120" cy="201168"/>
          </a:xfrm>
          <a:prstGeom prst="rect">
            <a:avLst/>
          </a:prstGeom>
          <a:solidFill>
            <a:srgbClr val="C09050"/>
          </a:solidFill>
          <a:ln w="12700">
            <a:solidFill>
              <a:srgbClr val="C090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60704" y="2788920"/>
            <a:ext cx="9601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✔  ÁP DỤNG</a:t>
            </a:r>
            <a:endParaRPr lang="en-US" sz="1000" b="1" dirty="0">
              <a:solidFill>
                <a:srgbClr val="FFFFFF"/>
              </a:solidFill>
              <a:latin typeface="Times New Roman" panose="02020603050405020304" pitchFamily="34" charset="0"/>
              <a:ea typeface="Times New Roman" panose="02020603050405020304" pitchFamily="34" charset="-122"/>
              <a:cs typeface="Times New Roman" panose="02020603050405020304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103120" y="2788920"/>
            <a:ext cx="2384425" cy="4756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Không có ràng buộc độ dài → kiểm tra biên 0, 1, 2, 5, 9, 10, 15 ký tự</a:t>
            </a:r>
            <a:endParaRPr lang="en-US" sz="1200" dirty="0">
              <a:solidFill>
                <a:srgbClr val="888888"/>
              </a:solidFill>
              <a:latin typeface="Times New Roman" panose="02020603050405020304" pitchFamily="34" charset="0"/>
              <a:ea typeface="Times New Roman" panose="02020603050405020304" pitchFamily="34" charset="-122"/>
              <a:cs typeface="Times New Roman" panose="02020603050405020304" pitchFamily="34" charset="-12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709160" y="2331720"/>
            <a:ext cx="4224528" cy="1024128"/>
          </a:xfrm>
          <a:prstGeom prst="rect">
            <a:avLst/>
          </a:prstGeom>
          <a:solidFill>
            <a:srgbClr val="F5F0E8"/>
          </a:solidFill>
          <a:ln w="8890">
            <a:solidFill>
              <a:srgbClr val="D4A96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09160" y="2331720"/>
            <a:ext cx="73152" cy="1024128"/>
          </a:xfrm>
          <a:prstGeom prst="rect">
            <a:avLst/>
          </a:prstGeom>
          <a:solidFill>
            <a:srgbClr val="C09050"/>
          </a:solidFill>
          <a:ln w="12700">
            <a:solidFill>
              <a:srgbClr val="C0905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55464" y="2624328"/>
            <a:ext cx="530352" cy="438912"/>
          </a:xfrm>
          <a:prstGeom prst="rect">
            <a:avLst/>
          </a:prstGeom>
          <a:solidFill>
            <a:srgbClr val="D4A96A"/>
          </a:solidFill>
          <a:ln w="12700">
            <a:solidFill>
              <a:srgbClr val="D4A96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5464" y="2624328"/>
            <a:ext cx="530352" cy="4389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1E1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04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5495544" y="2423160"/>
            <a:ext cx="3328416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1E1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Bảng Quyết Định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495544" y="2788920"/>
            <a:ext cx="960120" cy="201168"/>
          </a:xfrm>
          <a:prstGeom prst="rect">
            <a:avLst/>
          </a:prstGeom>
          <a:solidFill>
            <a:srgbClr val="C09050"/>
          </a:solidFill>
          <a:ln w="12700">
            <a:solidFill>
              <a:srgbClr val="C090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95544" y="2788920"/>
            <a:ext cx="9601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✔  ÁP DỤNG</a:t>
            </a:r>
            <a:endParaRPr lang="en-US" sz="1000" b="1" dirty="0">
              <a:solidFill>
                <a:srgbClr val="FFFFFF"/>
              </a:solidFill>
              <a:latin typeface="Times New Roman" panose="02020603050405020304" pitchFamily="34" charset="0"/>
              <a:ea typeface="Times New Roman" panose="02020603050405020304" pitchFamily="34" charset="-122"/>
              <a:cs typeface="Times New Roman" panose="02020603050405020304" pitchFamily="34" charset="-12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6537960" y="2788920"/>
            <a:ext cx="2386330" cy="4756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Login &amp; Checkout đều có ≥3 điều kiện độc lập → sinh đủ 8 tổ hợp quy tắc</a:t>
            </a:r>
            <a:endParaRPr lang="en-US" sz="1200" dirty="0">
              <a:solidFill>
                <a:srgbClr val="888888"/>
              </a:solidFill>
              <a:latin typeface="Times New Roman" panose="02020603050405020304" pitchFamily="34" charset="0"/>
              <a:ea typeface="Times New Roman" panose="02020603050405020304" pitchFamily="34" charset="-122"/>
              <a:cs typeface="Times New Roman" panose="02020603050405020304" pitchFamily="34" charset="-12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274320" y="3474720"/>
            <a:ext cx="4224528" cy="1024128"/>
          </a:xfrm>
          <a:prstGeom prst="rect">
            <a:avLst/>
          </a:prstGeom>
          <a:solidFill>
            <a:srgbClr val="F8F8F8"/>
          </a:solidFill>
          <a:ln w="8890">
            <a:solidFill>
              <a:srgbClr val="CCCCC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74320" y="3474720"/>
            <a:ext cx="73152" cy="1024128"/>
          </a:xfrm>
          <a:prstGeom prst="rect">
            <a:avLst/>
          </a:prstGeom>
          <a:solidFill>
            <a:srgbClr val="BBBBBB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0624" y="3767328"/>
            <a:ext cx="530352" cy="438912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20624" y="3767328"/>
            <a:ext cx="530352" cy="4389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1E1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05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060704" y="3566160"/>
            <a:ext cx="3328416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1E1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Hộp Trắng (White-box)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1060704" y="3931920"/>
            <a:ext cx="804672" cy="201168"/>
          </a:xfrm>
          <a:prstGeom prst="rect">
            <a:avLst/>
          </a:prstGeom>
          <a:solidFill>
            <a:srgbClr val="999999"/>
          </a:solidFill>
          <a:ln w="12700">
            <a:solidFill>
              <a:srgbClr val="99999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50595" y="3931920"/>
            <a:ext cx="914400" cy="20129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✘  BỎ QUA</a:t>
            </a:r>
            <a:endParaRPr lang="en-US" sz="1000" b="1" dirty="0">
              <a:solidFill>
                <a:srgbClr val="FFFFFF"/>
              </a:solidFill>
              <a:latin typeface="Times New Roman" panose="02020603050405020304" pitchFamily="34" charset="0"/>
              <a:ea typeface="Times New Roman" panose="02020603050405020304" pitchFamily="34" charset="-122"/>
              <a:cs typeface="Times New Roman" panose="02020603050405020304" pitchFamily="34" charset="-12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2004695" y="3931920"/>
            <a:ext cx="2494280" cy="4756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Cần source code để phân tích luồng/nhánh — web demo không cung cấp → không áp dụng</a:t>
            </a:r>
            <a:endParaRPr lang="en-US" sz="1200" dirty="0">
              <a:solidFill>
                <a:srgbClr val="888888"/>
              </a:solidFill>
              <a:latin typeface="Times New Roman" panose="02020603050405020304" pitchFamily="34" charset="0"/>
              <a:ea typeface="Times New Roman" panose="02020603050405020304" pitchFamily="34" charset="-122"/>
              <a:cs typeface="Times New Roman" panose="02020603050405020304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78908"/>
            <a:ext cx="9144000" cy="164592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22208" y="164592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256032"/>
            <a:ext cx="822960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1E1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Phân Vùng Tương Đương 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84048" y="841248"/>
            <a:ext cx="8375904" cy="27432"/>
          </a:xfrm>
          <a:prstGeom prst="rect">
            <a:avLst/>
          </a:prstGeom>
          <a:solidFill>
            <a:srgbClr val="C09050"/>
          </a:solidFill>
          <a:ln w="12700">
            <a:solidFill>
              <a:srgbClr val="C090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0" y="4828032"/>
            <a:ext cx="45720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04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/>
        </p:nvGraphicFramePr>
        <p:xfrm>
          <a:off x="256032" y="1115568"/>
          <a:ext cx="8631936" cy="2464308"/>
        </p:xfrm>
        <a:graphic>
          <a:graphicData uri="http://schemas.openxmlformats.org/drawingml/2006/table">
            <a:tbl>
              <a:tblPr/>
              <a:tblGrid>
                <a:gridCol w="594360"/>
                <a:gridCol w="841248"/>
                <a:gridCol w="2084832"/>
                <a:gridCol w="1298448"/>
                <a:gridCol w="1188720"/>
                <a:gridCol w="2624328"/>
              </a:tblGrid>
              <a:tr h="2240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Lớp</a:t>
                      </a:r>
                      <a:endParaRPr lang="en-US" sz="1200" b="1" dirty="0">
                        <a:solidFill>
                          <a:srgbClr val="FFFFFF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Trường</a:t>
                      </a:r>
                      <a:endParaRPr lang="en-US" sz="1200" b="1" dirty="0">
                        <a:solidFill>
                          <a:srgbClr val="FFFFFF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Mô tả vùng</a:t>
                      </a:r>
                      <a:endParaRPr lang="en-US" sz="1200" b="1" dirty="0">
                        <a:solidFill>
                          <a:srgbClr val="FFFFFF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Đại diện</a:t>
                      </a:r>
                      <a:endParaRPr lang="en-US" sz="1200" b="1" dirty="0">
                        <a:solidFill>
                          <a:srgbClr val="FFFFFF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 ID</a:t>
                      </a:r>
                      <a:endParaRPr lang="en-US" sz="1200" b="1" dirty="0">
                        <a:solidFill>
                          <a:srgbClr val="FFFFFF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Kết quả mong đợi</a:t>
                      </a:r>
                      <a:endParaRPr lang="en-US" sz="1200" b="1" dirty="0">
                        <a:solidFill>
                          <a:srgbClr val="FFFFFF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EP-01</a:t>
                      </a:r>
                      <a:endParaRPr lang="en-US" sz="105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Username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Hợp lệ (tồn tại trong hệ thống)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standard_user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5D4037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TC_LG_01</a:t>
                      </a:r>
                      <a:endParaRPr lang="en-US" sz="1050" dirty="0">
                        <a:solidFill>
                          <a:srgbClr val="5D4037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Đăng nhập thành công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B8860B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EP-02</a:t>
                      </a:r>
                      <a:endParaRPr lang="en-US" sz="1050" b="1" dirty="0">
                        <a:solidFill>
                          <a:srgbClr val="B8860B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Username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Tài khoản bị khóa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locked_out_user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5D4037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TC_LG_02</a:t>
                      </a:r>
                      <a:endParaRPr lang="en-US" sz="1050" dirty="0">
                        <a:solidFill>
                          <a:srgbClr val="5D4037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Thông báo tài khoản bị khóa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EP-03</a:t>
                      </a:r>
                      <a:endParaRPr lang="en-US" sz="105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Username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Không tồn tại trong hệ thống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unknown_user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5D4037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TC_LG_03</a:t>
                      </a:r>
                      <a:endParaRPr lang="en-US" sz="1050" dirty="0">
                        <a:solidFill>
                          <a:srgbClr val="5D4037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Thông báo sai thông tin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EP-04</a:t>
                      </a:r>
                      <a:endParaRPr lang="en-US" sz="105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Username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Trống (empty string)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''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5D4037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TC_LG_04</a:t>
                      </a:r>
                      <a:endParaRPr lang="en-US" sz="1050" dirty="0">
                        <a:solidFill>
                          <a:srgbClr val="5D4037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Lỗi 'Username is required'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EP-05</a:t>
                      </a:r>
                      <a:endParaRPr lang="en-US" sz="105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Password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Đúng với tài khoản hợp lệ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secret_sauce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5D4037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TC_LG_01</a:t>
                      </a:r>
                      <a:endParaRPr lang="en-US" sz="1050" dirty="0">
                        <a:solidFill>
                          <a:srgbClr val="5D4037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Đăng nhập thành công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EP-06</a:t>
                      </a:r>
                      <a:endParaRPr lang="en-US" sz="105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Password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Sai (không khớp với username)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wrongpass123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5D4037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TC_LG_03</a:t>
                      </a:r>
                      <a:endParaRPr lang="en-US" sz="1050" dirty="0">
                        <a:solidFill>
                          <a:srgbClr val="5D4037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Thông báo sai thông tin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EP-07</a:t>
                      </a:r>
                      <a:endParaRPr lang="en-US" sz="105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Password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Trống (empty string)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''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5D4037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TC_LG_05</a:t>
                      </a:r>
                      <a:endParaRPr lang="en-US" sz="1050" dirty="0">
                        <a:solidFill>
                          <a:srgbClr val="5D4037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Lỗi 'Password is required'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EP-C1</a:t>
                      </a:r>
                      <a:endParaRPr lang="en-US" sz="105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Postal Code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Chuỗi số hợp lệ (5 ký tự)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12345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5D4037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TC_CK_01</a:t>
                      </a:r>
                      <a:endParaRPr lang="en-US" sz="1050" dirty="0">
                        <a:solidFill>
                          <a:srgbClr val="5D4037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Qua Step 2 thành công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B8860B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EP-C2</a:t>
                      </a:r>
                      <a:endParaRPr lang="en-US" sz="1050" b="1" dirty="0">
                        <a:solidFill>
                          <a:srgbClr val="B8860B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Postal Code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Chuỗi chữ cái (không validate)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ABCDE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5D4037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TC_CK_04</a:t>
                      </a:r>
                      <a:endParaRPr lang="en-US" sz="1050" dirty="0">
                        <a:solidFill>
                          <a:srgbClr val="5D4037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Chấp nhận (không validate)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EP-C3</a:t>
                      </a:r>
                      <a:endParaRPr lang="en-US" sz="105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Postal Code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Trống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''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5D4037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TC_CK_05</a:t>
                      </a:r>
                      <a:endParaRPr lang="en-US" sz="1050" dirty="0">
                        <a:solidFill>
                          <a:srgbClr val="5D4037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Lỗi 'Postal Code is required'</a:t>
                      </a:r>
                      <a:endParaRPr lang="en-US" sz="10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256032" y="4572000"/>
            <a:ext cx="164592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75488" y="4553712"/>
            <a:ext cx="9144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E7D32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Hợp lệ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1463040" y="4572000"/>
            <a:ext cx="164592" cy="164592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682496" y="4553712"/>
            <a:ext cx="100584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8860B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Cảnh báo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2743835" y="4599305"/>
            <a:ext cx="164592" cy="164592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62656" y="4553712"/>
            <a:ext cx="128016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6282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Không hợp lệ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78908"/>
            <a:ext cx="9144000" cy="164592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22208" y="164592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256032"/>
            <a:ext cx="822960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1E1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0"/>
              </a:rPr>
              <a:t>Giá Trị Biên  &amp; Bảng Quyết Định — Chức năng Login</a:t>
            </a:r>
            <a:endParaRPr lang="en-US" sz="2400" b="1" dirty="0">
              <a:solidFill>
                <a:srgbClr val="1E1E1E"/>
              </a:solidFill>
              <a:latin typeface="Times New Roman" panose="02020603050405020304" pitchFamily="34" charset="0"/>
              <a:ea typeface="Times New Roman" panose="02020603050405020304" pitchFamily="34" charset="-122"/>
              <a:cs typeface="Times New Roman" panose="020206030504050203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84048" y="841248"/>
            <a:ext cx="8375904" cy="27432"/>
          </a:xfrm>
          <a:prstGeom prst="rect">
            <a:avLst/>
          </a:prstGeom>
          <a:solidFill>
            <a:srgbClr val="C09050"/>
          </a:solidFill>
          <a:ln w="12700">
            <a:solidFill>
              <a:srgbClr val="C090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175" y="4252595"/>
            <a:ext cx="8137525" cy="23749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endParaRPr lang="en-US" sz="1050" i="1" dirty="0">
              <a:solidFill>
                <a:srgbClr val="888888"/>
              </a:solidFill>
              <a:latin typeface="Times New Roman" panose="02020603050405020304" pitchFamily="34" charset="0"/>
              <a:ea typeface="Times New Roman" panose="02020603050405020304" pitchFamily="34" charset="-122"/>
              <a:cs typeface="Times New Roman" panose="020206030504050203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412480" y="4828032"/>
            <a:ext cx="45720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888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0"/>
              </a:rPr>
              <a:t>05</a:t>
            </a:r>
            <a:endParaRPr lang="en-US" sz="1000" dirty="0">
              <a:solidFill>
                <a:srgbClr val="888888"/>
              </a:solidFill>
              <a:latin typeface="Times New Roman" panose="02020603050405020304" pitchFamily="34" charset="0"/>
              <a:ea typeface="Times New Roman" panose="02020603050405020304" pitchFamily="34" charset="-122"/>
              <a:cs typeface="Times New Roman" panose="02020603050405020304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65760" y="1115568"/>
            <a:ext cx="411480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9050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0"/>
              </a:rPr>
              <a:t>Giá trị biên</a:t>
            </a:r>
            <a:endParaRPr lang="en-US" sz="1200" b="1" dirty="0">
              <a:solidFill>
                <a:srgbClr val="C09050"/>
              </a:solidFill>
              <a:latin typeface="Times New Roman" panose="02020603050405020304" pitchFamily="34" charset="0"/>
              <a:ea typeface="Times New Roman" panose="02020603050405020304" pitchFamily="34" charset="-122"/>
              <a:cs typeface="Times New Roman" panose="02020603050405020304" pitchFamily="34" charset="0"/>
            </a:endParaRPr>
          </a:p>
        </p:txBody>
      </p:sp>
      <p:graphicFrame>
        <p:nvGraphicFramePr>
          <p:cNvPr id="13" name="Table 0"/>
          <p:cNvGraphicFramePr>
            <a:graphicFrameLocks noGrp="1"/>
          </p:cNvGraphicFramePr>
          <p:nvPr/>
        </p:nvGraphicFramePr>
        <p:xfrm>
          <a:off x="256032" y="1371600"/>
          <a:ext cx="4407408" cy="1728216"/>
        </p:xfrm>
        <a:graphic>
          <a:graphicData uri="http://schemas.openxmlformats.org/drawingml/2006/table">
            <a:tbl>
              <a:tblPr/>
              <a:tblGrid>
                <a:gridCol w="640080"/>
                <a:gridCol w="1005840"/>
                <a:gridCol w="822960"/>
                <a:gridCol w="1371600"/>
                <a:gridCol w="566928"/>
              </a:tblGrid>
              <a:tr h="2468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Biên</a:t>
                      </a:r>
                      <a:endParaRPr lang="en-US" sz="950" b="1" dirty="0">
                        <a:solidFill>
                          <a:srgbClr val="FFFFFF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Đầu vào</a:t>
                      </a:r>
                      <a:endParaRPr lang="en-US" sz="950" b="1" dirty="0">
                        <a:solidFill>
                          <a:srgbClr val="FFFFFF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Loại biên</a:t>
                      </a:r>
                      <a:endParaRPr lang="en-US" sz="950" b="1" dirty="0">
                        <a:solidFill>
                          <a:srgbClr val="FFFFFF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Kết quả mong đợi</a:t>
                      </a:r>
                      <a:endParaRPr lang="en-US" sz="950" b="1" dirty="0">
                        <a:solidFill>
                          <a:srgbClr val="FFFFFF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Kết quả</a:t>
                      </a:r>
                      <a:endParaRPr lang="en-US" sz="950" b="1" dirty="0">
                        <a:solidFill>
                          <a:srgbClr val="FFFFFF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Min-1</a:t>
                      </a:r>
                      <a:endParaRPr lang="en-US" sz="95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'' (rỗng)</a:t>
                      </a:r>
                      <a:endParaRPr lang="en-US" sz="9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Dưới min</a:t>
                      </a:r>
                      <a:endParaRPr lang="en-US" sz="9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Lỗi 'Postal Code is required'</a:t>
                      </a:r>
                      <a:endParaRPr lang="en-US" sz="9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 PASS</a:t>
                      </a:r>
                      <a:endParaRPr lang="en-US" sz="95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B8860B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Min</a:t>
                      </a:r>
                      <a:endParaRPr lang="en-US" sz="950" b="1" dirty="0">
                        <a:solidFill>
                          <a:srgbClr val="B8860B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'1'</a:t>
                      </a:r>
                      <a:endParaRPr lang="en-US" sz="9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Biên min</a:t>
                      </a:r>
                      <a:endParaRPr lang="en-US" sz="9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Chấp nhận hoặc báo lỗi dạng</a:t>
                      </a:r>
                      <a:endParaRPr lang="en-US" sz="9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PASS</a:t>
                      </a:r>
                      <a:endParaRPr lang="en-US" sz="95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5D4037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Min+1</a:t>
                      </a:r>
                      <a:endParaRPr lang="en-US" sz="950" b="1" dirty="0">
                        <a:solidFill>
                          <a:srgbClr val="5D4037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'12'</a:t>
                      </a:r>
                      <a:endParaRPr lang="en-US" sz="9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Trên min</a:t>
                      </a:r>
                      <a:endParaRPr lang="en-US" sz="9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Chấp nhận</a:t>
                      </a:r>
                      <a:endParaRPr lang="en-US" sz="9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 PASS</a:t>
                      </a:r>
                      <a:endParaRPr lang="en-US" sz="95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Chuẩn</a:t>
                      </a:r>
                      <a:endParaRPr lang="en-US" sz="95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'12345'</a:t>
                      </a:r>
                      <a:endParaRPr lang="en-US" sz="9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Điển hình</a:t>
                      </a:r>
                      <a:endParaRPr lang="en-US" sz="9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Chấp nhận, qua Step 2</a:t>
                      </a:r>
                      <a:endParaRPr lang="en-US" sz="9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 PASS</a:t>
                      </a:r>
                      <a:endParaRPr lang="en-US" sz="95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5D4037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Max</a:t>
                      </a:r>
                      <a:endParaRPr lang="en-US" sz="950" b="1" dirty="0">
                        <a:solidFill>
                          <a:srgbClr val="5D4037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'1234567890'</a:t>
                      </a:r>
                      <a:endParaRPr lang="en-US" sz="9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Biên max</a:t>
                      </a:r>
                      <a:endParaRPr lang="en-US" sz="9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Chấp nhận hoặc giới hạn</a:t>
                      </a:r>
                      <a:endParaRPr lang="en-US" sz="9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 PASS</a:t>
                      </a:r>
                      <a:endParaRPr lang="en-US" sz="95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B8860B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Max+1</a:t>
                      </a:r>
                      <a:endParaRPr lang="en-US" sz="950" b="1" dirty="0">
                        <a:solidFill>
                          <a:srgbClr val="B8860B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'123456789012345'</a:t>
                      </a:r>
                      <a:endParaRPr lang="en-US" sz="9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Vượt max</a:t>
                      </a:r>
                      <a:endParaRPr lang="en-US" sz="9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Chấp nhận — undefined</a:t>
                      </a:r>
                      <a:endParaRPr lang="en-US" sz="950" dirty="0">
                        <a:solidFill>
                          <a:srgbClr val="333333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B8860B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️XEM XÉT</a:t>
                      </a:r>
                      <a:endParaRPr lang="en-US" sz="950" b="1" dirty="0">
                        <a:solidFill>
                          <a:srgbClr val="B8860B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4956048" y="1115568"/>
            <a:ext cx="402336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9050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0"/>
              </a:rPr>
              <a:t>Bảng Quyết Định — Đăng Nhập </a:t>
            </a:r>
            <a:endParaRPr lang="en-US" sz="1200" b="1" dirty="0">
              <a:solidFill>
                <a:srgbClr val="C09050"/>
              </a:solidFill>
              <a:latin typeface="Times New Roman" panose="02020603050405020304" pitchFamily="34" charset="0"/>
              <a:ea typeface="Times New Roman" panose="02020603050405020304" pitchFamily="34" charset="-122"/>
              <a:cs typeface="Times New Roman" panose="02020603050405020304" pitchFamily="34" charset="0"/>
            </a:endParaRPr>
          </a:p>
        </p:txBody>
      </p:sp>
      <p:graphicFrame>
        <p:nvGraphicFramePr>
          <p:cNvPr id="16" name="Table 1"/>
          <p:cNvGraphicFramePr>
            <a:graphicFrameLocks noGrp="1"/>
          </p:cNvGraphicFramePr>
          <p:nvPr/>
        </p:nvGraphicFramePr>
        <p:xfrm>
          <a:off x="4810252" y="1371600"/>
          <a:ext cx="4078224" cy="2221992"/>
        </p:xfrm>
        <a:graphic>
          <a:graphicData uri="http://schemas.openxmlformats.org/drawingml/2006/table">
            <a:tbl>
              <a:tblPr/>
              <a:tblGrid>
                <a:gridCol w="1371600"/>
                <a:gridCol w="338328"/>
                <a:gridCol w="338328"/>
                <a:gridCol w="332740"/>
                <a:gridCol w="343916"/>
                <a:gridCol w="338328"/>
                <a:gridCol w="338328"/>
                <a:gridCol w="338328"/>
                <a:gridCol w="338328"/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R1</a:t>
                      </a:r>
                      <a:endParaRPr lang="en-US" sz="950" b="1" dirty="0">
                        <a:solidFill>
                          <a:srgbClr val="FFFFFF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R2</a:t>
                      </a:r>
                      <a:endParaRPr lang="en-US" sz="950" b="1" dirty="0">
                        <a:solidFill>
                          <a:srgbClr val="FFFFFF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R3</a:t>
                      </a:r>
                      <a:endParaRPr lang="en-US" sz="950" b="1" dirty="0">
                        <a:solidFill>
                          <a:srgbClr val="FFFFFF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R4</a:t>
                      </a:r>
                      <a:endParaRPr lang="en-US" sz="950" b="1" dirty="0">
                        <a:solidFill>
                          <a:srgbClr val="FFFFFF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R5</a:t>
                      </a:r>
                      <a:endParaRPr lang="en-US" sz="950" b="1" dirty="0">
                        <a:solidFill>
                          <a:srgbClr val="FFFFFF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R6</a:t>
                      </a:r>
                      <a:endParaRPr lang="en-US" sz="950" b="1" dirty="0">
                        <a:solidFill>
                          <a:srgbClr val="FFFFFF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R7</a:t>
                      </a:r>
                      <a:endParaRPr lang="en-US" sz="950" b="1" dirty="0">
                        <a:solidFill>
                          <a:srgbClr val="FFFFFF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R8</a:t>
                      </a:r>
                      <a:endParaRPr lang="en-US" sz="950" b="1" dirty="0">
                        <a:solidFill>
                          <a:srgbClr val="FFFFFF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ĐIỀU KIỆN</a:t>
                      </a:r>
                      <a:endParaRPr lang="en-US" sz="900" b="1" dirty="0">
                        <a:solidFill>
                          <a:srgbClr val="FFFFFF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444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E1E1E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C1: Username tồn tại</a:t>
                      </a:r>
                      <a:endParaRPr lang="en-US" sz="1000" b="1" dirty="0">
                        <a:solidFill>
                          <a:srgbClr val="1E1E1E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F</a:t>
                      </a:r>
                      <a:endParaRPr lang="en-US" sz="12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F</a:t>
                      </a:r>
                      <a:endParaRPr lang="en-US" sz="12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F</a:t>
                      </a:r>
                      <a:endParaRPr lang="en-US" sz="12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F</a:t>
                      </a:r>
                      <a:endParaRPr lang="en-US" sz="12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</a:t>
                      </a:r>
                      <a:endParaRPr lang="en-US" sz="120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</a:t>
                      </a:r>
                      <a:endParaRPr lang="en-US" sz="120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</a:t>
                      </a:r>
                      <a:endParaRPr lang="en-US" sz="120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</a:t>
                      </a:r>
                      <a:endParaRPr lang="en-US" sz="120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E1E1E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C2: Password đúng</a:t>
                      </a:r>
                      <a:endParaRPr lang="en-US" sz="1000" b="1" dirty="0">
                        <a:solidFill>
                          <a:srgbClr val="1E1E1E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F</a:t>
                      </a:r>
                      <a:endParaRPr lang="en-US" sz="12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F</a:t>
                      </a:r>
                      <a:endParaRPr lang="en-US" sz="12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</a:t>
                      </a:r>
                      <a:endParaRPr lang="en-US" sz="120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</a:t>
                      </a:r>
                      <a:endParaRPr lang="en-US" sz="120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F</a:t>
                      </a:r>
                      <a:endParaRPr lang="en-US" sz="12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F</a:t>
                      </a:r>
                      <a:endParaRPr lang="en-US" sz="12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</a:t>
                      </a:r>
                      <a:endParaRPr lang="en-US" sz="120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</a:t>
                      </a:r>
                      <a:endParaRPr lang="en-US" sz="120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E1E1E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C3: TK bị khóa</a:t>
                      </a:r>
                      <a:endParaRPr lang="en-US" sz="1000" b="1" dirty="0">
                        <a:solidFill>
                          <a:srgbClr val="1E1E1E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F</a:t>
                      </a:r>
                      <a:endParaRPr lang="en-US" sz="12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>
                        <a:buClrTx/>
                        <a:buSzTx/>
                        <a:buFontTx/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</a:t>
                      </a:r>
                      <a:endParaRPr lang="en-US" sz="120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F</a:t>
                      </a:r>
                      <a:endParaRPr lang="en-US" sz="12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</a:t>
                      </a:r>
                      <a:endParaRPr lang="en-US" sz="1200" b="1" dirty="0">
                        <a:solidFill>
                          <a:srgbClr val="B8860B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F</a:t>
                      </a:r>
                      <a:endParaRPr lang="en-US" sz="12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</a:t>
                      </a:r>
                      <a:endParaRPr lang="en-US" sz="120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F</a:t>
                      </a:r>
                      <a:endParaRPr lang="en-US" sz="12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</a:t>
                      </a:r>
                      <a:endParaRPr lang="en-US" sz="1200" b="1" dirty="0">
                        <a:solidFill>
                          <a:srgbClr val="2EA0AD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HÀNH ĐỘNG</a:t>
                      </a:r>
                      <a:endParaRPr lang="en-US" sz="900" b="1" dirty="0">
                        <a:solidFill>
                          <a:srgbClr val="FFFFFF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9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9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9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9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9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9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9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9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905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E1E1E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A1: Đăng nhập OK</a:t>
                      </a:r>
                      <a:endParaRPr lang="en-US" sz="1000" b="1" dirty="0">
                        <a:solidFill>
                          <a:srgbClr val="1E1E1E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2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2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2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2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2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2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X</a:t>
                      </a:r>
                      <a:endParaRPr lang="en-US" sz="120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2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E1E1E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A2: Lỗi username/pass</a:t>
                      </a:r>
                      <a:endParaRPr lang="en-US" sz="1000" b="1" dirty="0">
                        <a:solidFill>
                          <a:srgbClr val="1E1E1E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X</a:t>
                      </a:r>
                      <a:endParaRPr lang="en-US" sz="12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2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X</a:t>
                      </a:r>
                      <a:endParaRPr lang="en-US" sz="12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2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X</a:t>
                      </a:r>
                      <a:endParaRPr lang="en-US" sz="120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2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2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2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E1E1E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A3: Lỗi bị khóa</a:t>
                      </a:r>
                      <a:endParaRPr lang="en-US" sz="1000" b="1" dirty="0">
                        <a:solidFill>
                          <a:srgbClr val="1E1E1E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2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X</a:t>
                      </a:r>
                      <a:endParaRPr lang="en-US" sz="1200" b="1" dirty="0">
                        <a:solidFill>
                          <a:srgbClr val="B8860B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2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X</a:t>
                      </a:r>
                      <a:endParaRPr lang="en-US" sz="120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2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X</a:t>
                      </a:r>
                      <a:endParaRPr lang="en-US" sz="1200" b="1" dirty="0">
                        <a:solidFill>
                          <a:srgbClr val="B8860B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2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X</a:t>
                      </a:r>
                      <a:endParaRPr lang="en-US" sz="1200" b="1" dirty="0">
                        <a:solidFill>
                          <a:srgbClr val="B8860B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  <p:sp>
        <p:nvSpPr>
          <p:cNvPr id="17" name="Text 13"/>
          <p:cNvSpPr/>
          <p:nvPr/>
        </p:nvSpPr>
        <p:spPr>
          <a:xfrm>
            <a:off x="4744085" y="4106545"/>
            <a:ext cx="4060190" cy="5410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50" i="1" dirty="0">
              <a:solidFill>
                <a:srgbClr val="888888"/>
              </a:solidFill>
              <a:latin typeface="Times New Roman" panose="02020603050405020304" pitchFamily="34" charset="0"/>
              <a:ea typeface="Times New Roman" panose="02020603050405020304" pitchFamily="34" charset="-122"/>
              <a:cs typeface="Times New Roman" panose="02020603050405020304" pitchFamily="34" charset="0"/>
            </a:endParaRPr>
          </a:p>
          <a:p>
            <a:pPr marL="0" indent="0" algn="r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88888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0"/>
                <a:sym typeface="+mn-ea"/>
              </a:rPr>
              <a:t>Bảng quyết định: 3 điều kiện =&gt; 2</a:t>
            </a:r>
            <a:r>
              <a:rPr lang="en-US" sz="1200" i="1" baseline="30000" dirty="0">
                <a:solidFill>
                  <a:srgbClr val="88888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0"/>
                <a:sym typeface="+mn-ea"/>
              </a:rPr>
              <a:t>3 = </a:t>
            </a:r>
            <a:r>
              <a:rPr lang="en-US" sz="1200" i="1" dirty="0">
                <a:solidFill>
                  <a:srgbClr val="88888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0"/>
                <a:sym typeface="+mn-ea"/>
              </a:rPr>
              <a:t>8 rules</a:t>
            </a:r>
            <a:br>
              <a:rPr lang="en-US" sz="1200" i="1" dirty="0">
                <a:solidFill>
                  <a:srgbClr val="88888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0"/>
                <a:sym typeface="+mn-ea"/>
              </a:rPr>
            </a:br>
            <a:endParaRPr lang="en-US" sz="1200" i="1" dirty="0">
              <a:solidFill>
                <a:srgbClr val="888888"/>
              </a:solidFill>
              <a:latin typeface="Times New Roman" panose="02020603050405020304" pitchFamily="34" charset="0"/>
              <a:ea typeface="Times New Roman" panose="02020603050405020304" pitchFamily="34" charset="-122"/>
              <a:cs typeface="Times New Roman" panose="02020603050405020304" pitchFamily="34" charset="0"/>
              <a:sym typeface="+mn-e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78908"/>
            <a:ext cx="9144000" cy="164592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22208" y="164592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256032"/>
            <a:ext cx="822960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1E1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0"/>
              </a:rPr>
              <a:t>Bảng Quyết Định Checkout </a:t>
            </a:r>
            <a:endParaRPr lang="en-US" sz="2400" b="1" dirty="0">
              <a:solidFill>
                <a:srgbClr val="1E1E1E"/>
              </a:solidFill>
              <a:latin typeface="Times New Roman" panose="02020603050405020304" pitchFamily="34" charset="0"/>
              <a:ea typeface="Times New Roman" panose="02020603050405020304" pitchFamily="34" charset="-122"/>
              <a:cs typeface="Times New Roman" panose="020206030504050203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84048" y="841248"/>
            <a:ext cx="8375904" cy="27432"/>
          </a:xfrm>
          <a:prstGeom prst="rect">
            <a:avLst/>
          </a:prstGeom>
          <a:solidFill>
            <a:srgbClr val="C09050"/>
          </a:solidFill>
          <a:ln w="12700">
            <a:solidFill>
              <a:srgbClr val="C090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877824"/>
            <a:ext cx="8375904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8888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0"/>
              </a:rPr>
              <a:t>Checkout: 3 trường bắt buộc =&gt;  2</a:t>
            </a:r>
            <a:r>
              <a:rPr lang="en-US" sz="950" i="1" dirty="0">
                <a:solidFill>
                  <a:srgbClr val="88888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0"/>
              </a:rPr>
              <a:t>3  = 8 RULE · Condition Coverage = 100%</a:t>
            </a:r>
            <a:endParaRPr lang="en-US" sz="950" i="1" dirty="0">
              <a:solidFill>
                <a:srgbClr val="888888"/>
              </a:solidFill>
              <a:latin typeface="Times New Roman" panose="02020603050405020304" pitchFamily="34" charset="0"/>
              <a:ea typeface="Times New Roman" panose="02020603050405020304" pitchFamily="34" charset="-122"/>
              <a:cs typeface="Times New Roman" panose="020206030504050203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412480" y="4828032"/>
            <a:ext cx="45720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0"/>
              </a:rPr>
              <a:t>06</a:t>
            </a:r>
            <a:endParaRPr lang="en-US" sz="900" dirty="0">
              <a:solidFill>
                <a:srgbClr val="888888"/>
              </a:solidFill>
              <a:latin typeface="Times New Roman" panose="02020603050405020304" pitchFamily="34" charset="0"/>
              <a:ea typeface="Times New Roman" panose="02020603050405020304" pitchFamily="34" charset="-122"/>
              <a:cs typeface="Times New Roman" panose="020206030504050203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56032" y="1115568"/>
            <a:ext cx="54864" cy="219456"/>
          </a:xfrm>
          <a:prstGeom prst="rect">
            <a:avLst/>
          </a:prstGeom>
          <a:solidFill>
            <a:srgbClr val="C09050"/>
          </a:solidFill>
          <a:ln w="12700">
            <a:solidFill>
              <a:srgbClr val="C090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502920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9050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0"/>
              </a:rPr>
              <a:t>Bảng Quyết Định — Checkout Step 1 (3 ĐK × 8 quy tắc)</a:t>
            </a:r>
            <a:endParaRPr lang="en-US" sz="1000" b="1" dirty="0">
              <a:solidFill>
                <a:srgbClr val="C09050"/>
              </a:solidFill>
              <a:latin typeface="Times New Roman" panose="02020603050405020304" pitchFamily="34" charset="0"/>
              <a:ea typeface="Times New Roman" panose="02020603050405020304" pitchFamily="34" charset="-122"/>
              <a:cs typeface="Times New Roman" panose="02020603050405020304" pitchFamily="34" charset="0"/>
            </a:endParaRPr>
          </a:p>
        </p:txBody>
      </p:sp>
      <p:graphicFrame>
        <p:nvGraphicFramePr>
          <p:cNvPr id="13" name="Table 0"/>
          <p:cNvGraphicFramePr>
            <a:graphicFrameLocks noGrp="1"/>
          </p:cNvGraphicFramePr>
          <p:nvPr/>
        </p:nvGraphicFramePr>
        <p:xfrm>
          <a:off x="255905" y="1371600"/>
          <a:ext cx="8359140" cy="2488565"/>
        </p:xfrm>
        <a:graphic>
          <a:graphicData uri="http://schemas.openxmlformats.org/drawingml/2006/table">
            <a:tbl>
              <a:tblPr/>
              <a:tblGrid>
                <a:gridCol w="2376170"/>
                <a:gridCol w="747395"/>
                <a:gridCol w="748665"/>
                <a:gridCol w="747395"/>
                <a:gridCol w="747395"/>
                <a:gridCol w="748665"/>
                <a:gridCol w="747395"/>
                <a:gridCol w="748665"/>
                <a:gridCol w="747395"/>
              </a:tblGrid>
              <a:tr h="23304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R1</a:t>
                      </a:r>
                      <a:endParaRPr lang="en-US" sz="850" b="1" dirty="0">
                        <a:solidFill>
                          <a:srgbClr val="FFFFFF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R2</a:t>
                      </a:r>
                      <a:endParaRPr lang="en-US" sz="850" b="1" dirty="0">
                        <a:solidFill>
                          <a:srgbClr val="FFFFFF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R3</a:t>
                      </a:r>
                      <a:endParaRPr lang="en-US" sz="850" b="1" dirty="0">
                        <a:solidFill>
                          <a:srgbClr val="FFFFFF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R4</a:t>
                      </a:r>
                      <a:endParaRPr lang="en-US" sz="850" b="1" dirty="0">
                        <a:solidFill>
                          <a:srgbClr val="FFFFFF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R5</a:t>
                      </a:r>
                      <a:endParaRPr lang="en-US" sz="850" b="1" dirty="0">
                        <a:solidFill>
                          <a:srgbClr val="FFFFFF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R6</a:t>
                      </a:r>
                      <a:endParaRPr lang="en-US" sz="850" b="1" dirty="0">
                        <a:solidFill>
                          <a:srgbClr val="FFFFFF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R7</a:t>
                      </a:r>
                      <a:endParaRPr lang="en-US" sz="850" b="1" dirty="0">
                        <a:solidFill>
                          <a:srgbClr val="FFFFFF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R8</a:t>
                      </a:r>
                      <a:endParaRPr lang="en-US" sz="850" b="1" dirty="0">
                        <a:solidFill>
                          <a:srgbClr val="FFFFFF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ĐIỀU KIỆN</a:t>
                      </a:r>
                      <a:endParaRPr lang="en-US" sz="800" b="1" dirty="0">
                        <a:solidFill>
                          <a:srgbClr val="FFFFFF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44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1E1E1E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C1: First Name ≠ rỗng</a:t>
                      </a:r>
                      <a:endParaRPr lang="en-US" sz="900" b="1" dirty="0">
                        <a:solidFill>
                          <a:srgbClr val="1E1E1E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F</a:t>
                      </a:r>
                      <a:endParaRPr lang="en-US" sz="10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F</a:t>
                      </a:r>
                      <a:endParaRPr lang="en-US" sz="10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F</a:t>
                      </a:r>
                      <a:endParaRPr lang="en-US" sz="10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F</a:t>
                      </a:r>
                      <a:endParaRPr lang="en-US" sz="10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T</a:t>
                      </a:r>
                      <a:endParaRPr lang="en-US" sz="100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T</a:t>
                      </a:r>
                      <a:endParaRPr lang="en-US" sz="100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T</a:t>
                      </a:r>
                      <a:endParaRPr lang="en-US" sz="100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T</a:t>
                      </a:r>
                      <a:endParaRPr lang="en-US" sz="100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1E1E1E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C2: Last Name ≠ rỗng</a:t>
                      </a:r>
                      <a:endParaRPr lang="en-US" sz="900" b="1" dirty="0">
                        <a:solidFill>
                          <a:srgbClr val="1E1E1E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F</a:t>
                      </a:r>
                      <a:endParaRPr lang="en-US" sz="10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F</a:t>
                      </a:r>
                      <a:endParaRPr lang="en-US" sz="10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T</a:t>
                      </a:r>
                      <a:endParaRPr lang="en-US" sz="100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T</a:t>
                      </a:r>
                      <a:endParaRPr lang="en-US" sz="100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F</a:t>
                      </a:r>
                      <a:endParaRPr lang="en-US" sz="10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F</a:t>
                      </a:r>
                      <a:endParaRPr lang="en-US" sz="10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T</a:t>
                      </a:r>
                      <a:endParaRPr lang="en-US" sz="100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T</a:t>
                      </a:r>
                      <a:endParaRPr lang="en-US" sz="100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1E1E1E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C3: Postal ≠ rỗng</a:t>
                      </a:r>
                      <a:endParaRPr lang="en-US" sz="900" b="1" dirty="0">
                        <a:solidFill>
                          <a:srgbClr val="1E1E1E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F</a:t>
                      </a:r>
                      <a:endParaRPr lang="en-US" sz="10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T</a:t>
                      </a:r>
                      <a:endParaRPr lang="en-US" sz="100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F</a:t>
                      </a:r>
                      <a:endParaRPr lang="en-US" sz="10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T</a:t>
                      </a:r>
                      <a:endParaRPr lang="en-US" sz="100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F</a:t>
                      </a:r>
                      <a:endParaRPr lang="en-US" sz="10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T</a:t>
                      </a:r>
                      <a:endParaRPr lang="en-US" sz="100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F</a:t>
                      </a:r>
                      <a:endParaRPr lang="en-US" sz="10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T</a:t>
                      </a:r>
                      <a:endParaRPr lang="en-US" sz="100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HÀNH ĐỘNG</a:t>
                      </a:r>
                      <a:endParaRPr lang="en-US" sz="800" b="1" dirty="0">
                        <a:solidFill>
                          <a:srgbClr val="FFFFFF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9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9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9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9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9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9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9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9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9050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1E1E1E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A1: Lỗi First Name</a:t>
                      </a:r>
                      <a:endParaRPr lang="en-US" sz="900" b="1" dirty="0">
                        <a:solidFill>
                          <a:srgbClr val="1E1E1E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X</a:t>
                      </a:r>
                      <a:endParaRPr lang="en-US" sz="10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X</a:t>
                      </a:r>
                      <a:endParaRPr lang="en-US" sz="10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X</a:t>
                      </a:r>
                      <a:endParaRPr lang="en-US" sz="10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X</a:t>
                      </a:r>
                      <a:endParaRPr lang="en-US" sz="10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0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0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0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0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1E1E1E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A2: Lỗi Last Name</a:t>
                      </a:r>
                      <a:endParaRPr lang="en-US" sz="900" b="1" dirty="0">
                        <a:solidFill>
                          <a:srgbClr val="1E1E1E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0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0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  <a:sym typeface="+mn-ea"/>
                        </a:rPr>
                        <a:t>—</a:t>
                      </a:r>
                      <a:endParaRPr lang="en-US" sz="10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  <a:sym typeface="+mn-ea"/>
                        </a:rPr>
                        <a:t>—</a:t>
                      </a:r>
                      <a:endParaRPr lang="en-US" sz="10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en-US" sz="1000" b="1" dirty="0">
                          <a:solidFill>
                            <a:srgbClr val="C0000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X</a:t>
                      </a:r>
                      <a:endParaRPr lang="en-US" altLang="en-US" sz="1000" b="1" dirty="0">
                        <a:solidFill>
                          <a:srgbClr val="C00000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X</a:t>
                      </a:r>
                      <a:endParaRPr lang="en-US" sz="1000" b="1" dirty="0">
                        <a:solidFill>
                          <a:srgbClr val="C00000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0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0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1E1E1E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A3: Lỗi Postal</a:t>
                      </a:r>
                      <a:endParaRPr lang="en-US" sz="900" b="1" dirty="0">
                        <a:solidFill>
                          <a:srgbClr val="1E1E1E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0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0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0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0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  <a:sym typeface="+mn-ea"/>
                        </a:rPr>
                        <a:t>—</a:t>
                      </a:r>
                      <a:endParaRPr lang="en-US" sz="10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0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X</a:t>
                      </a:r>
                      <a:endParaRPr lang="en-US" sz="1000" b="1" dirty="0">
                        <a:solidFill>
                          <a:srgbClr val="C6282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0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1E1E1E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A4: Checkout OK</a:t>
                      </a:r>
                      <a:endParaRPr lang="en-US" sz="900" b="1" dirty="0">
                        <a:solidFill>
                          <a:srgbClr val="1E1E1E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0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0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0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0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0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0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0"/>
                        </a:rPr>
                        <a:t>—</a:t>
                      </a:r>
                      <a:endParaRPr lang="en-US" sz="1000" dirty="0">
                        <a:solidFill>
                          <a:srgbClr val="888888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X</a:t>
                      </a:r>
                      <a:endParaRPr lang="en-US" sz="1000" b="1" dirty="0">
                        <a:solidFill>
                          <a:srgbClr val="2E7D32"/>
                        </a:solidFill>
                        <a:latin typeface="Times New Roman" panose="02020603050405020304" pitchFamily="34" charset="0"/>
                        <a:ea typeface="Times New Roman" panose="02020603050405020304" pitchFamily="34" charset="-122"/>
                        <a:cs typeface="Times New Roman" panose="02020603050405020304" pitchFamily="34" charset="-12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  <p:sp>
        <p:nvSpPr>
          <p:cNvPr id="36" name="Text 7"/>
          <p:cNvSpPr/>
          <p:nvPr/>
        </p:nvSpPr>
        <p:spPr>
          <a:xfrm>
            <a:off x="255778" y="3959479"/>
            <a:ext cx="8375904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8888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0"/>
              </a:rPr>
              <a:t>Lỗi khi có nhiều điều kiện cùng sai ưu tiên hiển thị điều kiện C1</a:t>
            </a:r>
            <a:endParaRPr lang="en-US" sz="950" dirty="0">
              <a:solidFill>
                <a:srgbClr val="888888"/>
              </a:solidFill>
              <a:latin typeface="Times New Roman" panose="02020603050405020304" pitchFamily="34" charset="0"/>
              <a:ea typeface="Times New Roman" panose="02020603050405020304" pitchFamily="34" charset="-122"/>
              <a:cs typeface="Times New Roman" panose="020206030504050203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78908"/>
            <a:ext cx="9144000" cy="164592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22208" y="164592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256032"/>
            <a:ext cx="822960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1E1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Test Case — Module Đăng Nhập (Login)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84048" y="841248"/>
            <a:ext cx="8375904" cy="27432"/>
          </a:xfrm>
          <a:prstGeom prst="rect">
            <a:avLst/>
          </a:prstGeom>
          <a:solidFill>
            <a:srgbClr val="C09050"/>
          </a:solidFill>
          <a:ln w="12700">
            <a:solidFill>
              <a:srgbClr val="C090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877824"/>
            <a:ext cx="8375904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8888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12 TC · Kỹ thuật: EP + BVA + Bảng Quyết Định + Kiểm thử bảo mật (SQL Injection, XSS)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412480" y="4828032"/>
            <a:ext cx="45720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07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/>
        </p:nvGraphicFramePr>
        <p:xfrm>
          <a:off x="256032" y="1115568"/>
          <a:ext cx="8631936" cy="3090672"/>
        </p:xfrm>
        <a:graphic>
          <a:graphicData uri="http://schemas.openxmlformats.org/drawingml/2006/table">
            <a:tbl>
              <a:tblPr/>
              <a:tblGrid>
                <a:gridCol w="777240"/>
                <a:gridCol w="1828800"/>
                <a:gridCol w="1051560"/>
                <a:gridCol w="1417320"/>
                <a:gridCol w="2377440"/>
                <a:gridCol w="777240"/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 ID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Tên Test Case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ĐK tiên quyết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Dữ liệu đầu vào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Kết quả mong đợi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KQ thực tế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TC_LG_01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Đăng nhập thành công (happy path)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Trang login hiển thị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standard_user / secret_sauce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Chuyển đến trang Products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TC_LG_02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Tài khoản bị khóa — locked_out_user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Trang login hiển thị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locked_out_user / secret_sauce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Thông báo tài khoản bị khóa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TC_LG_03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Sai mật khẩu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Trang login hiển thị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standard_user / wrongpass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Lỗi 'Username and password do not match'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TC_LG_04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Bỏ trống username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Trang login hiển thị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'' / secret_sauce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Lỗi 'Username is required'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TC_LG_05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Bỏ trống mật khẩu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Trang login hiển thị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standard_user / ''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Lỗi 'Password is required'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TC_LG_06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Bỏ trống cả hai trường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Trang login hiển thị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'' / ''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Hiện lỗi username required trước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TC_LG_07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problem_user — lỗi UI ảnh SP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Trang login hiển thị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problem_user / secret_sauce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Đăng nhập OK, ảnh sản phẩm sai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TC_LG_08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performance_glitch_user — chậm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Trang login hiển thị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performance_glitch / secret_sauce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Đăng nhập OK nhưng &gt;5 giây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TC_LG_09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Đăng xuất thành công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Đã đăng nhập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N/A — Click Logout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Quay về trang đăng nhập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TC_LG_10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SQL Injection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Trang login hiển thị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' OR 1=1-- / anypass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Hệ thống từ chối, hiện lỗi bình thường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TC_LG_11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Tấn công XSS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Trang login hiển thị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&lt;script&gt;alert(1)&lt;/script&gt;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Không thực thi script, hiện lỗi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TC_LG_12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Mật khẩu quá dài 500 ký tự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Trang login hiển thị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standard_user / 500 ký tự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Báo lỗi hoặc không đăng nhập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78908"/>
            <a:ext cx="9144000" cy="164592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22208" y="164592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256032"/>
            <a:ext cx="822960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1E1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Test Case — Module Thanh Toán / Checkout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84048" y="841248"/>
            <a:ext cx="8375904" cy="27432"/>
          </a:xfrm>
          <a:prstGeom prst="rect">
            <a:avLst/>
          </a:prstGeom>
          <a:solidFill>
            <a:srgbClr val="C09050"/>
          </a:solidFill>
          <a:ln w="12700">
            <a:solidFill>
              <a:srgbClr val="C090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877824"/>
            <a:ext cx="8375904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8888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12 TC · Kỹ thuật: BVA + Bảng Quyết Định · Gồm 3 bước: Step 1 → Overview → Xác nhận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412480" y="4828032"/>
            <a:ext cx="45720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08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/>
        </p:nvGraphicFramePr>
        <p:xfrm>
          <a:off x="256032" y="1115568"/>
          <a:ext cx="8631936" cy="3090672"/>
        </p:xfrm>
        <a:graphic>
          <a:graphicData uri="http://schemas.openxmlformats.org/drawingml/2006/table">
            <a:tbl>
              <a:tblPr/>
              <a:tblGrid>
                <a:gridCol w="777240"/>
                <a:gridCol w="1828800"/>
                <a:gridCol w="1051560"/>
                <a:gridCol w="1417320"/>
                <a:gridCol w="2377440"/>
                <a:gridCol w="777240"/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 ID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Tên Test Case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ĐK tiên quyết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Dữ liệu đầu vào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Kết quả mong đợi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KQ thực tế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TC_CK_01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Nhập thông tin hợp lệ — bước 1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Giỏ có sản phẩm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John / Doe / 12345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Chuyển đến Checkout Overview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TC_CK_02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Bỏ trống First Name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Giỏ có sản phẩm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'' / Doe / 12345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Lỗi 'First Name is required'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TC_CK_03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Bỏ trống Last Name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Giỏ có sản phẩm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John / '' / 12345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Lỗi 'Last Name is required'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TC_CK_04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Bỏ trống Postal Code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Giỏ có sản phẩm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John / Doe / ''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Lỗi 'Postal Code is required'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TC_CK_05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Bỏ trống tất cả — R1 trong DT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Giỏ có sản phẩm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'' / '' / ''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Hiện lỗi First Name required trước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TC_CK_06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Overview — Hiển thị đúng sản phẩm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Đã qua Step 1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Quan sát trang Overview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Tên, giá sản phẩm hiển thị chính xác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TC_CK_07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Overview — Tổng tiền đúng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Trang Overview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Tính Item total + Tax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Total = Item total + Tax 8.75%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TC_CK_08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Hoàn tất Checkout (Finish)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Trang Overview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Click Finish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Trang 'Thank you!' — đặt hàng thành công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TC_CK_09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Hủy tại bước 1 (Cancel)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Trang Checkout Step 1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Click Cancel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Quay lại trang Giỏ hàng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TC_CK_10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Hủy tại trang Overview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Trang Overview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Click Cancel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Quay lại trang danh sách sản phẩm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TC_CK_11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Back Home sau hoàn tất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Trang Thank you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Click Back Home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Về trang sản phẩm, giỏ hàng trống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TC_CK_12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Thuế tính đúng 8.75% — BVA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Trang Overview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Tính 8.75% × subtotal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Tax làm tròn 2 chữ số thập phân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78908"/>
            <a:ext cx="9144000" cy="164592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22208" y="164592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256032"/>
            <a:ext cx="822960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1E1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Test Case — Sản Phẩm (11 TC) &amp; Giỏ Hàng (10 TC)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84048" y="841248"/>
            <a:ext cx="8375904" cy="27432"/>
          </a:xfrm>
          <a:prstGeom prst="rect">
            <a:avLst/>
          </a:prstGeom>
          <a:solidFill>
            <a:srgbClr val="C09050"/>
          </a:solidFill>
          <a:ln w="12700">
            <a:solidFill>
              <a:srgbClr val="C090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0" y="4828032"/>
            <a:ext cx="45720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09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" y="1115568"/>
            <a:ext cx="54864" cy="201168"/>
          </a:xfrm>
          <a:prstGeom prst="rect">
            <a:avLst/>
          </a:prstGeom>
          <a:solidFill>
            <a:srgbClr val="D4A96A"/>
          </a:solidFill>
          <a:ln w="12700">
            <a:solidFill>
              <a:srgbClr val="D4A9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891413"/>
            <a:ext cx="832104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9050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Module Sản Phẩm — Kỹ thuật: EP + Exploratory Testing</a:t>
            </a:r>
            <a:endParaRPr lang="en-US" sz="9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261620" y="1099820"/>
          <a:ext cx="8418830" cy="1921510"/>
        </p:xfrm>
        <a:graphic>
          <a:graphicData uri="http://schemas.openxmlformats.org/drawingml/2006/table">
            <a:tbl>
              <a:tblPr/>
              <a:tblGrid>
                <a:gridCol w="796290"/>
                <a:gridCol w="1646555"/>
                <a:gridCol w="1229995"/>
                <a:gridCol w="1205865"/>
                <a:gridCol w="1835150"/>
                <a:gridCol w="1704975"/>
              </a:tblGrid>
              <a:tr h="27749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 ID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Tên Test Case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ĐK tiên quyết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Dữ liệu đầu vào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Kết quả mong đợi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KQ thực tế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</a:tr>
              <a:tr h="2679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TC_PR_01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Hiển thị danh sách 6 sản phẩm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Đăng nhập thành công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N/A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Hiển thị 6 sản phẩm mặc định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TC_PR_02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Sắp xếp A → Z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Trang Products mở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Sort: Name A to Z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Sản phẩm sắp xếp A-Z theo tên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3685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TC_PR_04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Sắp xếp giá thấp → cao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Trang Products mở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Sort: Price low to high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Sắp xếp từ $7.99 đến $49.99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679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TC_PR_06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Xem chi tiết sản phẩm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Trang Products mở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Click tên sản phẩm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Trang chi tiết: mô tả, giá, Add to cart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5209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TC_PR_07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Hình ảnh sản phẩm hiển thị đúng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Trang Products mở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standard_user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Tất cả ảnh hiển thị đúng sản phẩm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Fail - problem_user bị lỗi ảnh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TC_PR_10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Thêm sản phẩm vào giỏ từ danh sách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Trang Products mở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Click Add to cart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Badge trên Cart icon tăng lên 1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311023" y="3087751"/>
            <a:ext cx="8375904" cy="13716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256032" y="3168650"/>
            <a:ext cx="54864" cy="201168"/>
          </a:xfrm>
          <a:prstGeom prst="rect">
            <a:avLst/>
          </a:prstGeom>
          <a:solidFill>
            <a:srgbClr val="D4A96A"/>
          </a:solidFill>
          <a:ln w="12700">
            <a:solidFill>
              <a:srgbClr val="D4A96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5760" y="3186430"/>
            <a:ext cx="832104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9050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Module Giỏ Hàng — Kỹ thuật: Functional Testing</a:t>
            </a:r>
            <a:endParaRPr lang="en-US" sz="9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/>
        </p:nvGraphicFramePr>
        <p:xfrm>
          <a:off x="255905" y="3470275"/>
          <a:ext cx="8409305" cy="1459230"/>
        </p:xfrm>
        <a:graphic>
          <a:graphicData uri="http://schemas.openxmlformats.org/drawingml/2006/table">
            <a:tbl>
              <a:tblPr/>
              <a:tblGrid>
                <a:gridCol w="794385"/>
                <a:gridCol w="1868805"/>
                <a:gridCol w="1074420"/>
                <a:gridCol w="1448435"/>
                <a:gridCol w="2428875"/>
                <a:gridCol w="794385"/>
              </a:tblGrid>
              <a:tr h="2432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 ID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Tên Test Case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ĐK tiên quyết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Dữ liệu đầu vào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Kết quả mong đợi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KQ thực tế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</a:tr>
              <a:tr h="2432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TC_CT_01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Thêm 1 sản phẩm vào giỏ hàng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Đã đăng nhập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1 sản phẩm bất kỳ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Giỏ có 1 SP, badge = 1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432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TC_CT_02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Thêm nhiều sản phẩm (3 SP)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Đã đăng nhập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3 sản phẩm khác nhau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Giỏ có 3 SP, badge = 3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432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TC_CT_03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Xóa sản phẩm trong giỏ hàng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Giỏ có 2 sản phẩm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Click Remove sản phẩm 1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Giỏ còn 1 SP, badge = 1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432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TC_CT_06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Tiến hành Checkout từ giỏ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Giỏ có sản phẩm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Click Checkout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Chuyển đến Checkout Step 1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2432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C09050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TC_CT_10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Giỏ hàng lưu sau khi reload trang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Giỏ có sản phẩm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Tải lại trang (F5)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Giỏ hàng vẫn giữ nguyên sản phẩm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85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78908"/>
            <a:ext cx="9144000" cy="164592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22208" y="164592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256032"/>
            <a:ext cx="822960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1E1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Kết Quả Tổng Hợp &amp; Tổng Kết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84048" y="841248"/>
            <a:ext cx="8375904" cy="27432"/>
          </a:xfrm>
          <a:prstGeom prst="rect">
            <a:avLst/>
          </a:prstGeom>
          <a:solidFill>
            <a:srgbClr val="C09050"/>
          </a:solidFill>
          <a:ln w="12700">
            <a:solidFill>
              <a:srgbClr val="C090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877824"/>
            <a:ext cx="8375904" cy="23774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8888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55 Test Case · 93.7% PASS · Condition Coverage 100%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412480" y="4828032"/>
            <a:ext cx="45720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10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" y="1078992"/>
            <a:ext cx="1591056" cy="804672"/>
          </a:xfrm>
          <a:prstGeom prst="rect">
            <a:avLst/>
          </a:prstGeom>
          <a:solidFill>
            <a:srgbClr val="F5F0E8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" y="1078992"/>
            <a:ext cx="1591056" cy="54864"/>
          </a:xfrm>
          <a:prstGeom prst="rect">
            <a:avLst/>
          </a:prstGeom>
          <a:solidFill>
            <a:srgbClr val="C09050"/>
          </a:solidFill>
          <a:ln w="12700">
            <a:solidFill>
              <a:srgbClr val="C090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032" y="1133856"/>
            <a:ext cx="1591056" cy="457200"/>
          </a:xfrm>
          <a:prstGeom prst="rect">
            <a:avLst/>
          </a:prstGeom>
          <a:noFill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1E1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55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56032" y="1609344"/>
            <a:ext cx="1591056" cy="23774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8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Tổng TC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993392" y="1078992"/>
            <a:ext cx="1591056" cy="804672"/>
          </a:xfrm>
          <a:prstGeom prst="rect">
            <a:avLst/>
          </a:prstGeom>
          <a:solidFill>
            <a:srgbClr val="E8F5E9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93392" y="1078992"/>
            <a:ext cx="1591056" cy="54864"/>
          </a:xfrm>
          <a:prstGeom prst="rect">
            <a:avLst/>
          </a:prstGeom>
          <a:solidFill>
            <a:srgbClr val="C09050"/>
          </a:solidFill>
          <a:ln w="12700">
            <a:solidFill>
              <a:srgbClr val="C090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93392" y="1133856"/>
            <a:ext cx="1591056" cy="457200"/>
          </a:xfrm>
          <a:prstGeom prst="rect">
            <a:avLst/>
          </a:prstGeom>
          <a:noFill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1E1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52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993392" y="1609344"/>
            <a:ext cx="1591056" cy="23774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8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PASS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730752" y="1078992"/>
            <a:ext cx="1591056" cy="804672"/>
          </a:xfrm>
          <a:prstGeom prst="rect">
            <a:avLst/>
          </a:prstGeom>
          <a:solidFill>
            <a:srgbClr val="FFEBEE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30752" y="1078992"/>
            <a:ext cx="1591056" cy="54864"/>
          </a:xfrm>
          <a:prstGeom prst="rect">
            <a:avLst/>
          </a:prstGeom>
          <a:solidFill>
            <a:srgbClr val="C09050"/>
          </a:solidFill>
          <a:ln w="12700">
            <a:solidFill>
              <a:srgbClr val="C090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30752" y="1133856"/>
            <a:ext cx="1591056" cy="457200"/>
          </a:xfrm>
          <a:prstGeom prst="rect">
            <a:avLst/>
          </a:prstGeom>
          <a:noFill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1E1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3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3730752" y="1609344"/>
            <a:ext cx="1591056" cy="23774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8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FAIL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68112" y="1078992"/>
            <a:ext cx="1591056" cy="804672"/>
          </a:xfrm>
          <a:prstGeom prst="rect">
            <a:avLst/>
          </a:prstGeom>
          <a:solidFill>
            <a:srgbClr val="FFF8E1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68112" y="1078992"/>
            <a:ext cx="1591056" cy="54864"/>
          </a:xfrm>
          <a:prstGeom prst="rect">
            <a:avLst/>
          </a:prstGeom>
          <a:solidFill>
            <a:srgbClr val="C09050"/>
          </a:solidFill>
          <a:ln w="12700">
            <a:solidFill>
              <a:srgbClr val="C090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68112" y="1133856"/>
            <a:ext cx="1591056" cy="457200"/>
          </a:xfrm>
          <a:prstGeom prst="rect">
            <a:avLst/>
          </a:prstGeom>
          <a:noFill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1E1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93.7%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5468112" y="1609344"/>
            <a:ext cx="1591056" cy="23774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8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Tỷ lệ PASS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05472" y="1078992"/>
            <a:ext cx="1591056" cy="804672"/>
          </a:xfrm>
          <a:prstGeom prst="rect">
            <a:avLst/>
          </a:prstGeom>
          <a:solidFill>
            <a:srgbClr val="E3F2FD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205472" y="1078992"/>
            <a:ext cx="1591056" cy="54864"/>
          </a:xfrm>
          <a:prstGeom prst="rect">
            <a:avLst/>
          </a:prstGeom>
          <a:solidFill>
            <a:srgbClr val="C09050"/>
          </a:solidFill>
          <a:ln w="12700">
            <a:solidFill>
              <a:srgbClr val="C090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05472" y="1133856"/>
            <a:ext cx="1591056" cy="457200"/>
          </a:xfrm>
          <a:prstGeom prst="rect">
            <a:avLst/>
          </a:prstGeom>
          <a:noFill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1E1E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100%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7205472" y="1609344"/>
            <a:ext cx="1591056" cy="23774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88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Condition Cover.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56032" y="1984248"/>
            <a:ext cx="54864" cy="219456"/>
          </a:xfrm>
          <a:prstGeom prst="rect">
            <a:avLst/>
          </a:prstGeom>
          <a:solidFill>
            <a:srgbClr val="D4A96A"/>
          </a:solidFill>
          <a:ln w="12700">
            <a:solidFill>
              <a:srgbClr val="D4A96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1984248"/>
            <a:ext cx="457200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9050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Kết quả theo phương pháp &amp; module</a:t>
            </a:r>
            <a:endParaRPr lang="en-US" sz="1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/>
        </p:nvGraphicFramePr>
        <p:xfrm>
          <a:off x="256032" y="2240280"/>
          <a:ext cx="6217920" cy="1700784"/>
        </p:xfrm>
        <a:graphic>
          <a:graphicData uri="http://schemas.openxmlformats.org/drawingml/2006/table">
            <a:tbl>
              <a:tblPr/>
              <a:tblGrid>
                <a:gridCol w="2286000"/>
                <a:gridCol w="1737360"/>
                <a:gridCol w="457200"/>
                <a:gridCol w="502920"/>
                <a:gridCol w="457200"/>
              </a:tblGrid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Phương pháp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Module áp dụng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TC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PASS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FAIL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1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 Phân vùng tương đương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Login + Checkout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10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10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0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Giá trị biên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Postal Code Checkout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7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7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0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Bảng Quyết Định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Login + Checkout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12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11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1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Functional / Exploratory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Products + Cart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21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20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1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D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Performance (JMeter)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Toàn hệ thống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10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9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Times New Roman" panose="02020603050405020304" pitchFamily="34" charset="0"/>
                          <a:ea typeface="Times New Roman" panose="02020603050405020304" pitchFamily="34" charset="-122"/>
                          <a:cs typeface="Times New Roman" panose="02020603050405020304" pitchFamily="34" charset="-120"/>
                        </a:rPr>
                        <a:t>1</a:t>
                      </a:r>
                      <a:endParaRPr lang="en-US" sz="900" dirty="0">
                        <a:latin typeface="Times New Roman" panose="02020603050405020304" pitchFamily="34" charset="0"/>
                        <a:ea typeface="Times New Roman" panose="02020603050405020304" pitchFamily="34" charset="0"/>
                        <a:cs typeface="Times New Roman" panose="020206030504050203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Shape 31"/>
          <p:cNvSpPr/>
          <p:nvPr/>
        </p:nvSpPr>
        <p:spPr>
          <a:xfrm>
            <a:off x="6172200" y="1984248"/>
            <a:ext cx="54864" cy="219456"/>
          </a:xfrm>
          <a:prstGeom prst="rect">
            <a:avLst/>
          </a:prstGeom>
          <a:solidFill>
            <a:srgbClr val="D4A96A"/>
          </a:solidFill>
          <a:ln w="12700">
            <a:solidFill>
              <a:srgbClr val="D4A96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281928" y="1984248"/>
            <a:ext cx="265176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9050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Đề xuất cải tiến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236208" y="2286000"/>
            <a:ext cx="128016" cy="128016"/>
          </a:xfrm>
          <a:prstGeom prst="rect">
            <a:avLst/>
          </a:prstGeom>
          <a:solidFill>
            <a:srgbClr val="D4A96A"/>
          </a:solidFill>
          <a:ln w="12700">
            <a:solidFill>
              <a:srgbClr val="D4A96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419088" y="2231136"/>
            <a:ext cx="2496312" cy="40233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Thêm Selenium WebDriver cho Automation Regression Testing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6236208" y="2761488"/>
            <a:ext cx="128016" cy="128016"/>
          </a:xfrm>
          <a:prstGeom prst="rect">
            <a:avLst/>
          </a:prstGeom>
          <a:solidFill>
            <a:srgbClr val="D4A96A"/>
          </a:solidFill>
          <a:ln w="12700">
            <a:solidFill>
              <a:srgbClr val="D4A96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419088" y="2706624"/>
            <a:ext cx="2496312" cy="40233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Tích hợp CI/CD: JMeter + Newman tự động sau mỗi deploy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6236208" y="3236976"/>
            <a:ext cx="128016" cy="128016"/>
          </a:xfrm>
          <a:prstGeom prst="rect">
            <a:avLst/>
          </a:prstGeom>
          <a:solidFill>
            <a:srgbClr val="D4A96A"/>
          </a:solidFill>
          <a:ln w="12700">
            <a:solidFill>
              <a:srgbClr val="D4A96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19088" y="3182112"/>
            <a:ext cx="2496312" cy="40233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Dashboard: Grafana + InfluxDB + JMeter real-time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6236208" y="3712464"/>
            <a:ext cx="128016" cy="128016"/>
          </a:xfrm>
          <a:prstGeom prst="rect">
            <a:avLst/>
          </a:prstGeom>
          <a:solidFill>
            <a:srgbClr val="D4A96A"/>
          </a:solidFill>
          <a:ln w="12700">
            <a:solidFill>
              <a:srgbClr val="D4A96A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419088" y="3657600"/>
            <a:ext cx="2496312" cy="40233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Bảo mật chuyên sâu: OWASP ZAP scanning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6236208" y="4187952"/>
            <a:ext cx="128016" cy="128016"/>
          </a:xfrm>
          <a:prstGeom prst="rect">
            <a:avLst/>
          </a:prstGeom>
          <a:solidFill>
            <a:srgbClr val="D4A96A"/>
          </a:solidFill>
          <a:ln w="12700">
            <a:solidFill>
              <a:srgbClr val="D4A96A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19088" y="4133088"/>
            <a:ext cx="2496312" cy="40233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Times New Roman" panose="02020603050405020304" pitchFamily="34" charset="0"/>
                <a:ea typeface="Times New Roman" panose="02020603050405020304" pitchFamily="34" charset="-122"/>
                <a:cs typeface="Times New Roman" panose="02020603050405020304" pitchFamily="34" charset="-120"/>
              </a:rPr>
              <a:t>Rate limiting chống Brute Force (sai pass 10 lần)</a:t>
            </a:r>
            <a:endParaRPr lang="en-US" sz="900" dirty="0"/>
          </a:p>
        </p:txBody>
      </p:sp>
      <p:sp>
        <p:nvSpPr>
          <p:cNvPr id="46" name="Shape 43"/>
          <p:cNvSpPr/>
          <p:nvPr/>
        </p:nvSpPr>
        <p:spPr>
          <a:xfrm>
            <a:off x="384048" y="4626864"/>
            <a:ext cx="8375904" cy="13716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663*173"/>
  <p:tag name="TABLE_ENDDRAG_RECT" val="20*86*663*173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7891</Words>
  <Application>WPS Presentation</Application>
  <PresentationFormat>On-screen Show (16:9)</PresentationFormat>
  <Paragraphs>1192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0" baseType="lpstr">
      <vt:lpstr>Arial</vt:lpstr>
      <vt:lpstr>SimSun</vt:lpstr>
      <vt:lpstr>Wingdings</vt:lpstr>
      <vt:lpstr>Times New Roman</vt:lpstr>
      <vt:lpstr>Times New Roman</vt:lpstr>
      <vt:lpstr>Times New Roman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Kiểm Thử Swag Labs — Kỹ Thuật &amp; Test Case</dc:title>
  <dc:creator>PptxGenJS</dc:creator>
  <dc:subject>PptxGenJS Presentation</dc:subject>
  <cp:lastModifiedBy>Yen Nhi</cp:lastModifiedBy>
  <cp:revision>4</cp:revision>
  <dcterms:created xsi:type="dcterms:W3CDTF">2026-03-17T07:25:00Z</dcterms:created>
  <dcterms:modified xsi:type="dcterms:W3CDTF">2026-03-24T08:35:58Z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1033-12.1.0.25830</vt:lpwstr>
  </property>
  <property fmtid="{D5CDD505-2E9C-101B-9397-08002B2CF9AE}" pid="3" name="ICV">
    <vt:lpwstr>AA9B0E792A204F038F70FB3306226511_12</vt:lpwstr>
  </property>
</Properties>
</file>