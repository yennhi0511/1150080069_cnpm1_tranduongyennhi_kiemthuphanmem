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343400"/>
            <a:ext cx="457200" cy="320040"/>
          </a:xfrm>
          <a:prstGeom prst="rect">
            <a:avLst/>
          </a:prstGeom>
          <a:solidFill>
            <a:srgbClr val="AAAAAA">
              <a:alpha val="30000"/>
            </a:srgbClr>
          </a:solidFill>
          <a:ln w="12700">
            <a:solidFill>
              <a:srgbClr val="AAAA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480560"/>
            <a:ext cx="274320" cy="182880"/>
          </a:xfrm>
          <a:prstGeom prst="rect">
            <a:avLst/>
          </a:prstGeom>
          <a:solidFill>
            <a:srgbClr val="AAAAAA">
              <a:alpha val="20000"/>
            </a:srgbClr>
          </a:solidFill>
          <a:ln w="12700">
            <a:solidFill>
              <a:srgbClr val="AAAAA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188720"/>
            <a:ext cx="6400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KIỂM THỬ PHẦN MỀM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6400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Ứng Dụng JMeter cho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WebApp Automation Test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474720" y="3401568"/>
            <a:ext cx="2194560" cy="3657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493008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GVHD: Th.S Phạm Trọng Huynh</a:t>
            </a:r>
            <a:endParaRPr lang="en-US" sz="1200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SVTH: Trần Dương Yến Nhi 11CNPM1</a:t>
            </a:r>
            <a:endParaRPr lang="en-US" sz="1200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4588383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96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Tháng 03/2025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 Quan Đề Tài &amp; Phạm Vi Kiểm Thử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88720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64208" y="118872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3936" y="1188720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https://www.saucedemo.com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38528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Loại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64208" y="1938528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3936" y="1938528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Web Application (SPA · React)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88336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Đối tượng 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2688336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3936" y="2688336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Login · Products · Cart · Checkout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438144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38144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Công cụ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64208" y="3438144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3936" y="3438144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JMeter 5.6.3 · Postman v10 · Manual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1170432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Các module kiểm thử: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1463040"/>
            <a:ext cx="30175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1463040"/>
            <a:ext cx="64008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508760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Đăng nhập (Login)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1572768"/>
            <a:ext cx="74980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19720" y="1572895"/>
            <a:ext cx="87693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TestCase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2084832"/>
            <a:ext cx="301752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084832"/>
            <a:ext cx="64008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130552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Sản phẩm (Products)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2194560"/>
            <a:ext cx="749808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865" y="2194560"/>
            <a:ext cx="85979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52160" y="2706624"/>
            <a:ext cx="301752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2706624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752344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Giỏ hàng (Cart)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0" y="2816352"/>
            <a:ext cx="7498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25435" y="2816225"/>
            <a:ext cx="87122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3328416"/>
            <a:ext cx="3017520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3328416"/>
            <a:ext cx="64008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37413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Thanh toán (Checkout)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3438144"/>
            <a:ext cx="74980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230" y="3437890"/>
            <a:ext cx="86042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52160" y="3950208"/>
            <a:ext cx="3017520" cy="530352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3950208"/>
            <a:ext cx="64008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3995928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Hiệu năng — JMeter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46720" y="4059936"/>
            <a:ext cx="749808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865" y="4060190"/>
            <a:ext cx="85979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0" y="4608576"/>
            <a:ext cx="30175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Tổng: 55 Test Case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Lựa Chọn Kỹ Thuật Kiểm Thử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188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1344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344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1280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Kiểm Thử Hộp Đen 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0704" y="1645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1645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1645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Không có source code, kiểm thử qua giao diện &amp; hành vi ứng dụng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188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1344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344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95544" y="1280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Phân Vùng Tương Đương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95544" y="1645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1645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1645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Username / Password  có thể chia vùng hợp lệ – không hợp lệ – rỗng rõ ràng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331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331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2487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487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0704" y="2423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Giá Trị Biên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60704" y="2788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2788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2788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Không có ràng buộc độ dài → kiểm tra biên 0, 1, 2, 5, 9, 10, 15 ký tự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31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331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55464" y="2487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2487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95544" y="2423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95544" y="2788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5544" y="2788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37960" y="2788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Login &amp; Checkout đều có ≥3 điều kiện độc lập → sinh đủ 8 tổ hợp quy tắc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474720"/>
            <a:ext cx="4224528" cy="1024128"/>
          </a:xfrm>
          <a:prstGeom prst="rect">
            <a:avLst/>
          </a:prstGeom>
          <a:solidFill>
            <a:srgbClr val="F8F8F8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474720"/>
            <a:ext cx="73152" cy="102412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24" y="3630168"/>
            <a:ext cx="530352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3630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0704" y="3566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Hộp Trắng (White-box)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60704" y="3931920"/>
            <a:ext cx="804672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3931920"/>
            <a:ext cx="8046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✘  BỎ QUA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103120" y="3931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Cần source code để phân tích luồng/nhánh — web demo không cung cấp → không áp dụng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3474720"/>
            <a:ext cx="4224528" cy="1024128"/>
          </a:xfrm>
          <a:prstGeom prst="rect">
            <a:avLst/>
          </a:prstGeom>
          <a:solidFill>
            <a:srgbClr val="F8F8F8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3474720"/>
            <a:ext cx="73152" cy="102412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55464" y="3630168"/>
            <a:ext cx="530352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3630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95544" y="3566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Automation (Selenium)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495544" y="3931920"/>
            <a:ext cx="804672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95544" y="3931920"/>
            <a:ext cx="8046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✘  BỎ QUA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37960" y="3931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Ngoài phạm vi đề tài — JMeter (hiệu năng) &amp; Postman (API) đã bao phủ phần tự động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Phân Vùng Tương Đương 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56032" y="1115568"/>
          <a:ext cx="8631936" cy="2464308"/>
        </p:xfrm>
        <a:graphic>
          <a:graphicData uri="http://schemas.openxmlformats.org/drawingml/2006/table">
            <a:tbl>
              <a:tblPr/>
              <a:tblGrid>
                <a:gridCol w="594360"/>
                <a:gridCol w="841248"/>
                <a:gridCol w="2084832"/>
                <a:gridCol w="1298448"/>
                <a:gridCol w="1188720"/>
                <a:gridCol w="2624328"/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Lớp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Trường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Mô tả vùng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Đại diện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Hợp lệ (tồn tại trong hệ thống)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Tài khoản bị khóa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locked_out_user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tài khoản bị khóa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Không tồn tại trong hệ thống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unknown_user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sai thông tin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Trống (empty string)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'Username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Password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Đúng với tài khoản hợp lệ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Password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Sai (không khớp với username)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wrongpass123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sai thông tin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Password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Trống (empty string)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'Password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EP-C1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Chuỗi số hợp lệ (5 ký tự)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 Step 2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EP-C2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Chuỗi chữ cái (không validate)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ABCDE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 (không validate)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EP-C3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Trống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'Postal Code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56032" y="4572000"/>
            <a:ext cx="16459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553712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Hợp lệ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463040" y="4572000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82496" y="455371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Cảnh báo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835" y="4599305"/>
            <a:ext cx="164592" cy="164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62656" y="4553712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Không hợp lệ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Giá Trị Biên  &amp; Bảng Quyết Định — Chức năng Login</a:t>
            </a:r>
            <a:endParaRPr lang="en-US" sz="2400" b="1" dirty="0">
              <a:solidFill>
                <a:srgbClr val="1E1E1E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175" y="877570"/>
            <a:ext cx="813752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Bảng quyết định: 3 điều kiện =&gt; 2</a:t>
            </a:r>
            <a:r>
              <a:rPr lang="en-US" sz="950" i="1" baseline="300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3 = </a:t>
            </a: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8 rules</a:t>
            </a:r>
            <a:endParaRPr lang="en-US" sz="950" i="1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05</a:t>
            </a:r>
            <a:endParaRPr lang="en-US" sz="900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Giá trị biên</a:t>
            </a:r>
            <a:endParaRPr lang="en-US" sz="1000" b="1" dirty="0">
              <a:solidFill>
                <a:srgbClr val="C0905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56032" y="1371600"/>
          <a:ext cx="4407408" cy="1728216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822960"/>
                <a:gridCol w="1371600"/>
                <a:gridCol w="566928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Biên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Đầu vào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Loại biên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Kết quả mong đợi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Kết quả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Min-1</a:t>
                      </a:r>
                      <a:endParaRPr lang="en-US" sz="85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'' (rỗng)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Dưới min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Lỗi 'Postal Code is required'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 PASS</a:t>
                      </a:r>
                      <a:endParaRPr lang="en-US" sz="85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Min</a:t>
                      </a:r>
                      <a:endParaRPr lang="en-US" sz="85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'1'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Biên min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Chấp nhận hoặc báo lỗi dạng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PASS</a:t>
                      </a:r>
                      <a:endParaRPr lang="en-US" sz="85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Min+1</a:t>
                      </a:r>
                      <a:endParaRPr lang="en-US" sz="850" b="1" dirty="0">
                        <a:solidFill>
                          <a:srgbClr val="5D4037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'12'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Trên min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Chấp nhận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 PASS</a:t>
                      </a:r>
                      <a:endParaRPr lang="en-US" sz="85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Chuẩn</a:t>
                      </a:r>
                      <a:endParaRPr lang="en-US" sz="85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'12345'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Điển hình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Chấp nhận, qua Step 2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 PASS</a:t>
                      </a:r>
                      <a:endParaRPr lang="en-US" sz="85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Max</a:t>
                      </a:r>
                      <a:endParaRPr lang="en-US" sz="850" b="1" dirty="0">
                        <a:solidFill>
                          <a:srgbClr val="5D4037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'1234567890'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Biên max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Chấp nhận hoặc giới hạn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 PASS</a:t>
                      </a:r>
                      <a:endParaRPr lang="en-US" sz="85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Max+1</a:t>
                      </a:r>
                      <a:endParaRPr lang="en-US" sz="85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'123456789012345'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Vượt max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Chấp nhận — undefined</a:t>
                      </a:r>
                      <a:endParaRPr lang="en-US" sz="850" dirty="0">
                        <a:solidFill>
                          <a:srgbClr val="333333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️XEM XÉT</a:t>
                      </a:r>
                      <a:endParaRPr lang="en-US" sz="85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1115568"/>
            <a:ext cx="4023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Bảng Quyết Định — Đăng Nhập (3 ĐK × 8 quy tắc)</a:t>
            </a:r>
            <a:endParaRPr lang="en-US" sz="1000" b="1" dirty="0">
              <a:solidFill>
                <a:srgbClr val="C0905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0"/>
            </a:endParaRPr>
          </a:p>
        </p:txBody>
      </p:sp>
      <p:graphicFrame>
        <p:nvGraphicFramePr>
          <p:cNvPr id="16" name="Table 1"/>
          <p:cNvGraphicFramePr>
            <a:graphicFrameLocks noGrp="1"/>
          </p:cNvGraphicFramePr>
          <p:nvPr/>
        </p:nvGraphicFramePr>
        <p:xfrm>
          <a:off x="4828032" y="1371600"/>
          <a:ext cx="4078224" cy="2221992"/>
        </p:xfrm>
        <a:graphic>
          <a:graphicData uri="http://schemas.openxmlformats.org/drawingml/2006/table">
            <a:tbl>
              <a:tblPr/>
              <a:tblGrid>
                <a:gridCol w="1371600"/>
                <a:gridCol w="338328"/>
                <a:gridCol w="338328"/>
                <a:gridCol w="338328"/>
                <a:gridCol w="338328"/>
                <a:gridCol w="338328"/>
                <a:gridCol w="338328"/>
                <a:gridCol w="338328"/>
                <a:gridCol w="338328"/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R1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R2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R3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R4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R5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R6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R7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R8</a:t>
                      </a:r>
                      <a:endParaRPr lang="en-US" sz="85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ĐIỀU KIỆN</a:t>
                      </a:r>
                      <a:endParaRPr lang="en-US" sz="80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C1: Username tồn tại</a:t>
                      </a:r>
                      <a:endParaRPr lang="en-US" sz="900" b="1" dirty="0">
                        <a:solidFill>
                          <a:srgbClr val="1E1E1E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C2: Password đúng</a:t>
                      </a:r>
                      <a:endParaRPr lang="en-US" sz="900" b="1" dirty="0">
                        <a:solidFill>
                          <a:srgbClr val="1E1E1E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C3: TK bị khóa</a:t>
                      </a:r>
                      <a:endParaRPr lang="en-US" sz="900" b="1" dirty="0">
                        <a:solidFill>
                          <a:srgbClr val="1E1E1E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HÀNH ĐỘNG</a:t>
                      </a:r>
                      <a:endParaRPr lang="en-US" sz="800" b="1" dirty="0">
                        <a:solidFill>
                          <a:srgbClr val="FFFFFF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A1: Đăng nhập OK</a:t>
                      </a:r>
                      <a:endParaRPr lang="en-US" sz="900" b="1" dirty="0">
                        <a:solidFill>
                          <a:srgbClr val="1E1E1E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2E7D32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A2: Lỗi username/pass</a:t>
                      </a:r>
                      <a:endParaRPr lang="en-US" sz="900" b="1" dirty="0">
                        <a:solidFill>
                          <a:srgbClr val="1E1E1E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C6282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A3: Lỗi bị khóa</a:t>
                      </a:r>
                      <a:endParaRPr lang="en-US" sz="900" b="1" dirty="0">
                        <a:solidFill>
                          <a:srgbClr val="1E1E1E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888888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b="1" dirty="0">
                        <a:solidFill>
                          <a:srgbClr val="B8860B"/>
                        </a:solidFill>
                        <a:latin typeface="Times New Roman" panose="02020603050405020304" pitchFamily="34" charset="0"/>
                        <a:ea typeface="Times New Roman" panose="02020603050405020304" pitchFamily="34" charset="-122"/>
                        <a:cs typeface="Times New Roman" panose="020206030504050203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828032" y="4553712"/>
            <a:ext cx="4059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✔ Có  ✘ Không  — N/A  |  R7 là quy tắc duy nhất đăng nhập thành công</a:t>
            </a:r>
            <a:endParaRPr lang="en-US" sz="750" i="1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 Checkout &amp; Tính Độ Phủ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Checkout: 3 trường bắt buộc × 8 tổ hợp · Condition Coverage = 100%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5029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 — Checkout Step 1 (3 ĐK × 8 quy tắc)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56032" y="1371600"/>
          <a:ext cx="5212080" cy="2423160"/>
        </p:xfrm>
        <a:graphic>
          <a:graphicData uri="http://schemas.openxmlformats.org/drawingml/2006/table">
            <a:tbl>
              <a:tblPr/>
              <a:tblGrid>
                <a:gridCol w="1481328"/>
                <a:gridCol w="466344"/>
                <a:gridCol w="466344"/>
                <a:gridCol w="466344"/>
                <a:gridCol w="466344"/>
                <a:gridCol w="466344"/>
                <a:gridCol w="466344"/>
                <a:gridCol w="466344"/>
                <a:gridCol w="466344"/>
              </a:tblGrid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ĐIỀU KIỆN</a:t>
                      </a:r>
                      <a:endParaRPr lang="en-US" sz="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C1: First Name ≠ rỗng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C2: Last Name ≠ rỗng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C3: Postal ≠ rỗng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HÀNH ĐỘNG</a:t>
                      </a:r>
                      <a:endParaRPr lang="en-US" sz="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A1: Lỗi First Name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A2: Lỗi Last Name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A3: Lỗi Postal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A4: Checkout OK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" y="4608576"/>
            <a:ext cx="5212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Quy tắc ưu tiên: R1 (cả 3 rỗng) → chỉ báo lỗi A1 trước. R8 (cả 3 hợp lệ) → A4 thành công.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669280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9008" y="1115568"/>
            <a:ext cx="31089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Tính Toán Độ Phủ (Coverage)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1371600"/>
            <a:ext cx="3246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Black-box → dùng Condition Coverage từ Bảng Quyết Định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0" y="1627632"/>
            <a:ext cx="3246120" cy="8686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0" y="1627632"/>
            <a:ext cx="64008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1682496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Condition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2121408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3/3 ĐK test cả True &amp; False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589520" y="1719072"/>
            <a:ext cx="123444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0" y="1719072"/>
            <a:ext cx="1234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100%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669280" y="2615184"/>
            <a:ext cx="3246120" cy="868680"/>
          </a:xfrm>
          <a:prstGeom prst="rect">
            <a:avLst/>
          </a:prstGeom>
          <a:solidFill>
            <a:srgbClr val="E0F2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2615184"/>
            <a:ext cx="64008" cy="8686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2670048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EP Class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06440" y="3108960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10/10 lớp EP đã test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589520" y="2706624"/>
            <a:ext cx="1234440" cy="640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2706624"/>
            <a:ext cx="1234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100%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669280" y="3602736"/>
            <a:ext cx="3246120" cy="86868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0" y="3602736"/>
            <a:ext cx="6400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657600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Rule Coverage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(DT)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06440" y="4096512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 TC / 8 quy tắc (tối ưu TC)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589520" y="3694176"/>
            <a:ext cx="12344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89520" y="3694176"/>
            <a:ext cx="1234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37.5%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Case — Module Đăng Nhập (Login)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TC · Kỹ thuật: EP + BVA + Bảng Quyết Định + Kiểm thử bảo mật (SQL Injection, XSS)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56032" y="1115568"/>
          <a:ext cx="8631936" cy="3090672"/>
        </p:xfrm>
        <a:graphic>
          <a:graphicData uri="http://schemas.openxmlformats.org/drawingml/2006/table">
            <a:tbl>
              <a:tblPr/>
              <a:tblGrid>
                <a:gridCol w="777240"/>
                <a:gridCol w="1828800"/>
                <a:gridCol w="1051560"/>
                <a:gridCol w="1417320"/>
                <a:gridCol w="2377440"/>
                <a:gridCol w="77724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 (happy path)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Chuyển đến trang Products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Tài khoản bị khóa — locked_out_user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locked_out_user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tài khoản bị khóa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Sai mật khẩu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wrongpass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'Username and password do not match'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'Username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mật khẩu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'Password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cả hai trường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Hiện lỗi username required trước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problem_user — lỗi UI ảnh SP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problem_user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OK, ảnh sản phẩm sai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performance_glitch_user — chậm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performance_glitch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OK nhưng &gt;5 giây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TC_LG_09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xuất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N/A — Click Logout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Quay về trang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SQL Injection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 OR 1=1-- / anypass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Hệ thống từ chối, hiện lỗi bình thường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TC_LG_11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Tấn công XSS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&lt;script&gt;alert(1)&lt;/script&gt;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Không thực thi script, hiện lỗi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TC_LG_12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Mật khẩu quá dài 500 ký tự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500 ký tự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Báo lỗi hoặc không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Case — Module Thanh Toán / Checkout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TC · Kỹ thuật: BVA + Bảng Quyết Định · Gồm 3 bước: Step 1 → Overview → Xác nhận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56032" y="1115568"/>
          <a:ext cx="8631936" cy="3090672"/>
        </p:xfrm>
        <a:graphic>
          <a:graphicData uri="http://schemas.openxmlformats.org/drawingml/2006/table">
            <a:tbl>
              <a:tblPr/>
              <a:tblGrid>
                <a:gridCol w="777240"/>
                <a:gridCol w="1828800"/>
                <a:gridCol w="1051560"/>
                <a:gridCol w="1417320"/>
                <a:gridCol w="2377440"/>
                <a:gridCol w="77724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Nhập thông tin hợp lệ — bước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John / Doe / 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Chuyển đến Checkout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First 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Doe / 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'First 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Last 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John / '' / 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'Last 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John / Doe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'Postal Code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tất cả — R1 trong DT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''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Hiện lỗi First Name required trước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Overview — Hiển thị đúng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qua Step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Quan sát 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Tên, giá sản phẩm hiển thị chính xác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Overview — Tổng tiền đúng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Tính Item total + Tax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Total = Item total + Tax 8.75%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Hoàn tất Checkout (Finish)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Finish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'Thank you!' — đặt hàng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TC_CK_09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Hủy tại bước 1 (Cancel)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Checkout Step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Cancel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Quay lại trang Giỏ hàng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Hủy tại 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Cancel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Quay lại trang danh sách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TC_CK_11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Back Home sau hoàn tất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Thank you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Back Home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Về trang sản phẩm, giỏ hàng trống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TC_CK_12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Thuế tính đúng 8.75% — BVA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Tính 8.75% × subtotal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Tax làm tròn 2 chữ số thập phân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Case — Sản Phẩm (11 TC) &amp; Giỏ Hàng (10 TC)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4864" cy="20116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1413"/>
            <a:ext cx="8321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Module Sản Phẩm — Kỹ thuật: EP + Exploratory Testing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1620" y="1099820"/>
          <a:ext cx="8418830" cy="1921510"/>
        </p:xfrm>
        <a:graphic>
          <a:graphicData uri="http://schemas.openxmlformats.org/drawingml/2006/table">
            <a:tbl>
              <a:tblPr/>
              <a:tblGrid>
                <a:gridCol w="796290"/>
                <a:gridCol w="1646555"/>
                <a:gridCol w="1229995"/>
                <a:gridCol w="1205865"/>
                <a:gridCol w="1835150"/>
                <a:gridCol w="1704975"/>
              </a:tblGrid>
              <a:tr h="2774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Hiển thị danh sách 6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N/A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Hiển thị 6 sản phẩm mặc định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Sắp xếp A → Z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Sort: Name A to Z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Sản phẩm sắp xếp A-Z theo tên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68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Sắp xếp giá thấp → cao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Sort: Price low to high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Sắp xếp từ $7.99 đến $49.99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Xem chi tiết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tên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chi tiết: mô tả, giá, Add to cart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Hình ảnh sản phẩm hiển thị đúng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Tất cả ảnh hiển thị đúng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Fail - problem_user bị lỗi ảnh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Thêm sản phẩm vào giỏ từ danh sách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Add to cart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Badge trên Cart icon tăng lên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11023" y="3087751"/>
            <a:ext cx="8375904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6032" y="3168650"/>
            <a:ext cx="54864" cy="20116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186430"/>
            <a:ext cx="8321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Module Giỏ Hàng — Kỹ thuật: Functional Testing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255905" y="3470275"/>
          <a:ext cx="8409305" cy="1459230"/>
        </p:xfrm>
        <a:graphic>
          <a:graphicData uri="http://schemas.openxmlformats.org/drawingml/2006/table">
            <a:tbl>
              <a:tblPr/>
              <a:tblGrid>
                <a:gridCol w="794385"/>
                <a:gridCol w="1868805"/>
                <a:gridCol w="1074420"/>
                <a:gridCol w="1448435"/>
                <a:gridCol w="2428875"/>
                <a:gridCol w="794385"/>
              </a:tblGrid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Thêm 1 sản phẩm vào giỏ hàng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 sản phẩm bất kỳ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1 SP, badge =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Thêm nhiều sản phẩm (3 SP)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 sản phẩm khác nhau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3 SP, badge = 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Xóa sản phẩm trong giỏ hàng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2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Remove sản phẩm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còn 1 SP, badge =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Tiến hành Checkout từ giỏ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Checkout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Chuyển đến Checkout Step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hàng lưu sau khi reload trang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Tải lại trang (F5)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hàng vẫn giữ nguyên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Kết Quả Tổng Hợp &amp; Tổng Kết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55 Test Case · 93.7% PASS · Condition Coverage 100%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078992"/>
            <a:ext cx="1591056" cy="804672"/>
          </a:xfrm>
          <a:prstGeom prst="rect">
            <a:avLst/>
          </a:prstGeom>
          <a:solidFill>
            <a:srgbClr val="F5F0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 TC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93392" y="1078992"/>
            <a:ext cx="1591056" cy="8046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9339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30752" y="1078992"/>
            <a:ext cx="1591056" cy="804672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73075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68112" y="1078992"/>
            <a:ext cx="1591056" cy="804672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93.7%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6811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Tỷ lệ PASS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05472" y="1078992"/>
            <a:ext cx="1591056" cy="8046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0547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Condition Cover.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1984248"/>
            <a:ext cx="54864" cy="21945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1984248"/>
            <a:ext cx="4572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Kết quả theo phương pháp &amp; module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256032" y="2240280"/>
          <a:ext cx="6217920" cy="1700784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457200"/>
                <a:gridCol w="502920"/>
                <a:gridCol w="457200"/>
                <a:gridCol w="777240"/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Phương pháp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Module áp dụng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FAIL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Độ phủ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 (Phân vùng tương đương)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Login + Checkout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100%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BVA (Giá trị biên)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 Checkout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100%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Bảng Quyết Định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Login + Checkout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100%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Functional / Exploratory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Products + Cart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Performance (JMeter)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Toàn hệ thống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172200" y="1984248"/>
            <a:ext cx="54864" cy="21945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81928" y="1984248"/>
            <a:ext cx="2651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Đề xuất cải tiến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36208" y="2286000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19088" y="2231136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Thêm Selenium WebDriver cho Automation Regression Testing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236208" y="2761488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2706624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Tích hợp CI/CD: JMeter + Newman tự động sau mỗi deploy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36208" y="3236976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19088" y="3182112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Dashboard: Grafana + InfluxDB + JMeter real-time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36208" y="3712464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19088" y="3657600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Bảo mật chuyên sâu: OWASP ZAP scanning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236208" y="4187952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19088" y="4133088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Rate limiting chống Brute Force (sai pass 10 lần)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84048" y="4626864"/>
            <a:ext cx="8375904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6032" y="4663440"/>
            <a:ext cx="863193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Đề tài: Ứng Dụng JMeter cho WebApp Automation Test  ·  Swag Labs  ·  Tháng 03/2025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3*173"/>
  <p:tag name="TABLE_ENDDRAG_RECT" val="20*86*663*1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8450</Words>
  <Application>WPS Presentation</Application>
  <PresentationFormat>On-screen Show (16:9)</PresentationFormat>
  <Paragraphs>1241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Swag Labs — Kỹ Thuật &amp; Test Case</dc:title>
  <dc:creator>PptxGenJS</dc:creator>
  <dc:subject>PptxGenJS Presentation</dc:subject>
  <cp:lastModifiedBy>Yen Nhi</cp:lastModifiedBy>
  <cp:revision>3</cp:revision>
  <dcterms:created xsi:type="dcterms:W3CDTF">2026-03-17T07:25:00Z</dcterms:created>
  <dcterms:modified xsi:type="dcterms:W3CDTF">2026-03-18T18:57:58Z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AA9B0E792A204F038F70FB3306226511_12</vt:lpwstr>
  </property>
</Properties>
</file>